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71" r:id="rId3"/>
    <p:sldId id="257" r:id="rId4"/>
    <p:sldId id="258" r:id="rId5"/>
    <p:sldId id="259" r:id="rId6"/>
    <p:sldId id="260" r:id="rId7"/>
    <p:sldId id="262" r:id="rId8"/>
    <p:sldId id="264" r:id="rId9"/>
    <p:sldId id="263" r:id="rId10"/>
    <p:sldId id="266" r:id="rId11"/>
    <p:sldId id="268" r:id="rId12"/>
    <p:sldId id="269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4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7A623F-4B63-4E76-BD94-1E99C0A31A66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3F09DE0-EBCA-429A-82F8-B61618D383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Track</a:t>
          </a:r>
        </a:p>
      </dgm:t>
    </dgm:pt>
    <dgm:pt modelId="{426CA6FA-B4EF-4CC8-944B-662FBBC37FFB}" type="parTrans" cxnId="{17C05DAF-26F0-4B68-91CA-3AEC845B51DC}">
      <dgm:prSet/>
      <dgm:spPr/>
      <dgm:t>
        <a:bodyPr/>
        <a:lstStyle/>
        <a:p>
          <a:endParaRPr lang="en-US"/>
        </a:p>
      </dgm:t>
    </dgm:pt>
    <dgm:pt modelId="{7BF2A173-7E4B-4FCD-9DA6-CE7605630A08}" type="sibTrans" cxnId="{17C05DAF-26F0-4B68-91CA-3AEC845B51DC}">
      <dgm:prSet/>
      <dgm:spPr/>
      <dgm:t>
        <a:bodyPr/>
        <a:lstStyle/>
        <a:p>
          <a:endParaRPr lang="en-US"/>
        </a:p>
      </dgm:t>
    </dgm:pt>
    <dgm:pt modelId="{613E207F-7F27-4252-A804-4749226051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Track overall loan performance using key KPIs</a:t>
          </a:r>
          <a:br>
            <a:rPr lang="en-US"/>
          </a:br>
          <a:r>
            <a:rPr lang="en-US"/>
            <a:t>(Applications, Funded Amount, Received Amount, Interest Rate, DTI)</a:t>
          </a:r>
        </a:p>
      </dgm:t>
    </dgm:pt>
    <dgm:pt modelId="{4F15E3BA-3FBC-44FD-B008-8BC844328B06}" type="parTrans" cxnId="{733F80F0-2341-46F9-BDEE-807B7A6E681A}">
      <dgm:prSet/>
      <dgm:spPr/>
      <dgm:t>
        <a:bodyPr/>
        <a:lstStyle/>
        <a:p>
          <a:endParaRPr lang="en-US"/>
        </a:p>
      </dgm:t>
    </dgm:pt>
    <dgm:pt modelId="{A7E134AD-0FFB-4454-84EE-81044D2623DF}" type="sibTrans" cxnId="{733F80F0-2341-46F9-BDEE-807B7A6E681A}">
      <dgm:prSet/>
      <dgm:spPr/>
      <dgm:t>
        <a:bodyPr/>
        <a:lstStyle/>
        <a:p>
          <a:endParaRPr lang="en-US"/>
        </a:p>
      </dgm:t>
    </dgm:pt>
    <dgm:pt modelId="{779ABD1B-6651-46D5-9967-005EFA2908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Identify</a:t>
          </a:r>
        </a:p>
      </dgm:t>
    </dgm:pt>
    <dgm:pt modelId="{A81C3348-0D3D-425D-9826-6E4CF602BF58}" type="parTrans" cxnId="{63221140-FDAE-4483-80A6-A7AB3C967A01}">
      <dgm:prSet/>
      <dgm:spPr/>
      <dgm:t>
        <a:bodyPr/>
        <a:lstStyle/>
        <a:p>
          <a:endParaRPr lang="en-US"/>
        </a:p>
      </dgm:t>
    </dgm:pt>
    <dgm:pt modelId="{8B1AAAE3-AE1B-4624-957A-422CFF9D93E2}" type="sibTrans" cxnId="{63221140-FDAE-4483-80A6-A7AB3C967A01}">
      <dgm:prSet/>
      <dgm:spPr/>
      <dgm:t>
        <a:bodyPr/>
        <a:lstStyle/>
        <a:p>
          <a:endParaRPr lang="en-US"/>
        </a:p>
      </dgm:t>
    </dgm:pt>
    <dgm:pt modelId="{1D7189C9-1580-4EFC-A119-A07DD01321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Identify trends and risk patterns across</a:t>
          </a:r>
          <a:br>
            <a:rPr lang="en-US"/>
          </a:br>
          <a:r>
            <a:rPr lang="en-US"/>
            <a:t>Time, Geography, Loan Purpose, Employment Length, Home Ownership</a:t>
          </a:r>
        </a:p>
      </dgm:t>
    </dgm:pt>
    <dgm:pt modelId="{96A31969-0A60-4C76-ABF0-E584653F1712}" type="parTrans" cxnId="{CB2D6157-DA93-4604-A998-880539A763CB}">
      <dgm:prSet/>
      <dgm:spPr/>
      <dgm:t>
        <a:bodyPr/>
        <a:lstStyle/>
        <a:p>
          <a:endParaRPr lang="en-US"/>
        </a:p>
      </dgm:t>
    </dgm:pt>
    <dgm:pt modelId="{9BF9971F-B5FA-43C0-B28A-27EF5D38AB0E}" type="sibTrans" cxnId="{CB2D6157-DA93-4604-A998-880539A763CB}">
      <dgm:prSet/>
      <dgm:spPr/>
      <dgm:t>
        <a:bodyPr/>
        <a:lstStyle/>
        <a:p>
          <a:endParaRPr lang="en-US"/>
        </a:p>
      </dgm:t>
    </dgm:pt>
    <dgm:pt modelId="{F4106916-07DE-4016-B897-C2F3FBA048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Provide</a:t>
          </a:r>
        </a:p>
      </dgm:t>
    </dgm:pt>
    <dgm:pt modelId="{C55E1E2C-4314-4B94-8EE6-A6C552F8CC06}" type="parTrans" cxnId="{F219676A-34E3-4E92-BBBA-65AF565E00B8}">
      <dgm:prSet/>
      <dgm:spPr/>
      <dgm:t>
        <a:bodyPr/>
        <a:lstStyle/>
        <a:p>
          <a:endParaRPr lang="en-US"/>
        </a:p>
      </dgm:t>
    </dgm:pt>
    <dgm:pt modelId="{F43FFECF-F6FF-4938-B9B1-4F4D3BEC4D8B}" type="sibTrans" cxnId="{F219676A-34E3-4E92-BBBA-65AF565E00B8}">
      <dgm:prSet/>
      <dgm:spPr/>
      <dgm:t>
        <a:bodyPr/>
        <a:lstStyle/>
        <a:p>
          <a:endParaRPr lang="en-US"/>
        </a:p>
      </dgm:t>
    </dgm:pt>
    <dgm:pt modelId="{B18FE524-B139-484B-86CE-F0B686F507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Provide a loan-level details view as a single source of truth</a:t>
          </a:r>
          <a:br>
            <a:rPr lang="en-US"/>
          </a:br>
          <a:r>
            <a:rPr lang="en-US"/>
            <a:t>for operational monitoring and deep-dive analysis</a:t>
          </a:r>
        </a:p>
      </dgm:t>
    </dgm:pt>
    <dgm:pt modelId="{367F8E78-7FFF-45AF-B831-3CC7E8C39C9E}" type="parTrans" cxnId="{5C13B740-FEBD-4C46-A21E-6B2AB747B572}">
      <dgm:prSet/>
      <dgm:spPr/>
      <dgm:t>
        <a:bodyPr/>
        <a:lstStyle/>
        <a:p>
          <a:endParaRPr lang="en-US"/>
        </a:p>
      </dgm:t>
    </dgm:pt>
    <dgm:pt modelId="{82072DAD-289E-45DE-834B-4E59179F6C31}" type="sibTrans" cxnId="{5C13B740-FEBD-4C46-A21E-6B2AB747B572}">
      <dgm:prSet/>
      <dgm:spPr/>
      <dgm:t>
        <a:bodyPr/>
        <a:lstStyle/>
        <a:p>
          <a:endParaRPr lang="en-US"/>
        </a:p>
      </dgm:t>
    </dgm:pt>
    <dgm:pt modelId="{9C901B42-33A6-49A7-BFF6-97D19737C3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Goal</a:t>
          </a:r>
        </a:p>
      </dgm:t>
    </dgm:pt>
    <dgm:pt modelId="{00C4E464-DE3B-41FD-A60C-4478873DC8B6}" type="parTrans" cxnId="{B2FCBDEF-4198-47E2-B1C7-62BFD04FF1AC}">
      <dgm:prSet/>
      <dgm:spPr/>
      <dgm:t>
        <a:bodyPr/>
        <a:lstStyle/>
        <a:p>
          <a:endParaRPr lang="en-US"/>
        </a:p>
      </dgm:t>
    </dgm:pt>
    <dgm:pt modelId="{90107EC3-4769-4B7C-8621-86B1740ECD88}" type="sibTrans" cxnId="{B2FCBDEF-4198-47E2-B1C7-62BFD04FF1AC}">
      <dgm:prSet/>
      <dgm:spPr/>
      <dgm:t>
        <a:bodyPr/>
        <a:lstStyle/>
        <a:p>
          <a:endParaRPr lang="en-US"/>
        </a:p>
      </dgm:t>
    </dgm:pt>
    <dgm:pt modelId="{9E2EF578-18EB-40BD-B1CA-74D35FCA61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Goal: Enable faster insights, stronger risk control, and data-driven lending decisions.</a:t>
          </a:r>
        </a:p>
      </dgm:t>
    </dgm:pt>
    <dgm:pt modelId="{0FAEE589-40F6-4825-8469-27500E520A16}" type="parTrans" cxnId="{54980B56-BD10-4034-9AB6-1A69564A7040}">
      <dgm:prSet/>
      <dgm:spPr/>
      <dgm:t>
        <a:bodyPr/>
        <a:lstStyle/>
        <a:p>
          <a:endParaRPr lang="en-US"/>
        </a:p>
      </dgm:t>
    </dgm:pt>
    <dgm:pt modelId="{04F9F368-4C50-4B95-8C02-B44E8D89DE3A}" type="sibTrans" cxnId="{54980B56-BD10-4034-9AB6-1A69564A7040}">
      <dgm:prSet/>
      <dgm:spPr/>
      <dgm:t>
        <a:bodyPr/>
        <a:lstStyle/>
        <a:p>
          <a:endParaRPr lang="en-US"/>
        </a:p>
      </dgm:t>
    </dgm:pt>
    <dgm:pt modelId="{5C15D2C6-9C8A-4BF6-B075-124C332B9179}" type="pres">
      <dgm:prSet presAssocID="{EB7A623F-4B63-4E76-BD94-1E99C0A31A66}" presName="Name0" presStyleCnt="0">
        <dgm:presLayoutVars>
          <dgm:dir/>
          <dgm:animLvl val="lvl"/>
          <dgm:resizeHandles val="exact"/>
        </dgm:presLayoutVars>
      </dgm:prSet>
      <dgm:spPr/>
    </dgm:pt>
    <dgm:pt modelId="{B6ABCA16-4CD5-4C6C-AA7E-760C04B319D4}" type="pres">
      <dgm:prSet presAssocID="{53F09DE0-EBCA-429A-82F8-B61618D3831A}" presName="linNode" presStyleCnt="0"/>
      <dgm:spPr/>
    </dgm:pt>
    <dgm:pt modelId="{F711CBFC-6BF5-4DEA-B96D-8D226C6992A2}" type="pres">
      <dgm:prSet presAssocID="{53F09DE0-EBCA-429A-82F8-B61618D3831A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D81634F6-C8B5-4876-A3E6-83F8C4262373}" type="pres">
      <dgm:prSet presAssocID="{53F09DE0-EBCA-429A-82F8-B61618D3831A}" presName="descendantText" presStyleLbl="alignNode1" presStyleIdx="0" presStyleCnt="4">
        <dgm:presLayoutVars>
          <dgm:bulletEnabled/>
        </dgm:presLayoutVars>
      </dgm:prSet>
      <dgm:spPr/>
    </dgm:pt>
    <dgm:pt modelId="{FD01D0AA-940F-45C5-B641-05A53A8509E8}" type="pres">
      <dgm:prSet presAssocID="{7BF2A173-7E4B-4FCD-9DA6-CE7605630A08}" presName="sp" presStyleCnt="0"/>
      <dgm:spPr/>
    </dgm:pt>
    <dgm:pt modelId="{D35B03CB-EDAE-4F6B-A399-FF2DAB12CB1E}" type="pres">
      <dgm:prSet presAssocID="{779ABD1B-6651-46D5-9967-005EFA29086C}" presName="linNode" presStyleCnt="0"/>
      <dgm:spPr/>
    </dgm:pt>
    <dgm:pt modelId="{833328F9-C80D-4834-A1ED-4469946020F4}" type="pres">
      <dgm:prSet presAssocID="{779ABD1B-6651-46D5-9967-005EFA29086C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57D44080-93F4-4C2B-AB40-4E2A544DAACD}" type="pres">
      <dgm:prSet presAssocID="{779ABD1B-6651-46D5-9967-005EFA29086C}" presName="descendantText" presStyleLbl="alignNode1" presStyleIdx="1" presStyleCnt="4">
        <dgm:presLayoutVars>
          <dgm:bulletEnabled/>
        </dgm:presLayoutVars>
      </dgm:prSet>
      <dgm:spPr/>
    </dgm:pt>
    <dgm:pt modelId="{BB571001-4D8E-4B0A-B340-9DC5867CBB71}" type="pres">
      <dgm:prSet presAssocID="{8B1AAAE3-AE1B-4624-957A-422CFF9D93E2}" presName="sp" presStyleCnt="0"/>
      <dgm:spPr/>
    </dgm:pt>
    <dgm:pt modelId="{FC0CCB40-F318-4C1C-B8FD-13B785CAC111}" type="pres">
      <dgm:prSet presAssocID="{F4106916-07DE-4016-B897-C2F3FBA048F4}" presName="linNode" presStyleCnt="0"/>
      <dgm:spPr/>
    </dgm:pt>
    <dgm:pt modelId="{F36830F6-A8F9-4622-B175-8E8FE69957F0}" type="pres">
      <dgm:prSet presAssocID="{F4106916-07DE-4016-B897-C2F3FBA048F4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C79DD3D0-A662-42AF-A26B-4600C53DB70E}" type="pres">
      <dgm:prSet presAssocID="{F4106916-07DE-4016-B897-C2F3FBA048F4}" presName="descendantText" presStyleLbl="alignNode1" presStyleIdx="2" presStyleCnt="4">
        <dgm:presLayoutVars>
          <dgm:bulletEnabled/>
        </dgm:presLayoutVars>
      </dgm:prSet>
      <dgm:spPr/>
    </dgm:pt>
    <dgm:pt modelId="{1BBC1CD5-AF2B-41B2-A57B-B18FD0E63562}" type="pres">
      <dgm:prSet presAssocID="{F43FFECF-F6FF-4938-B9B1-4F4D3BEC4D8B}" presName="sp" presStyleCnt="0"/>
      <dgm:spPr/>
    </dgm:pt>
    <dgm:pt modelId="{166F801E-3ED2-4D31-A1FA-2AAB743AFF9A}" type="pres">
      <dgm:prSet presAssocID="{9C901B42-33A6-49A7-BFF6-97D19737C39C}" presName="linNode" presStyleCnt="0"/>
      <dgm:spPr/>
    </dgm:pt>
    <dgm:pt modelId="{90593321-90D2-4C70-89F4-79715E9CAF09}" type="pres">
      <dgm:prSet presAssocID="{9C901B42-33A6-49A7-BFF6-97D19737C39C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3F1E599D-15D8-425A-8828-CC4C9B8B3AC0}" type="pres">
      <dgm:prSet presAssocID="{9C901B42-33A6-49A7-BFF6-97D19737C39C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CB5ACB0E-A716-4537-85EF-30F2869D90EA}" type="presOf" srcId="{1D7189C9-1580-4EFC-A119-A07DD01321B1}" destId="{57D44080-93F4-4C2B-AB40-4E2A544DAACD}" srcOrd="0" destOrd="0" presId="urn:microsoft.com/office/officeart/2016/7/layout/VerticalHollowActionList"/>
    <dgm:cxn modelId="{9125F330-D237-405B-91BB-59ECA6A777BB}" type="presOf" srcId="{613E207F-7F27-4252-A804-47492260517F}" destId="{D81634F6-C8B5-4876-A3E6-83F8C4262373}" srcOrd="0" destOrd="0" presId="urn:microsoft.com/office/officeart/2016/7/layout/VerticalHollowActionList"/>
    <dgm:cxn modelId="{6FA67932-AA0D-46EE-8DDB-7C1CE310DC2B}" type="presOf" srcId="{9C901B42-33A6-49A7-BFF6-97D19737C39C}" destId="{90593321-90D2-4C70-89F4-79715E9CAF09}" srcOrd="0" destOrd="0" presId="urn:microsoft.com/office/officeart/2016/7/layout/VerticalHollowActionList"/>
    <dgm:cxn modelId="{DA2D073F-0D65-405D-AEDD-764B4C86B807}" type="presOf" srcId="{779ABD1B-6651-46D5-9967-005EFA29086C}" destId="{833328F9-C80D-4834-A1ED-4469946020F4}" srcOrd="0" destOrd="0" presId="urn:microsoft.com/office/officeart/2016/7/layout/VerticalHollowActionList"/>
    <dgm:cxn modelId="{1409743F-7CA1-4CCA-A872-471162C50C9F}" type="presOf" srcId="{EB7A623F-4B63-4E76-BD94-1E99C0A31A66}" destId="{5C15D2C6-9C8A-4BF6-B075-124C332B9179}" srcOrd="0" destOrd="0" presId="urn:microsoft.com/office/officeart/2016/7/layout/VerticalHollowActionList"/>
    <dgm:cxn modelId="{63221140-FDAE-4483-80A6-A7AB3C967A01}" srcId="{EB7A623F-4B63-4E76-BD94-1E99C0A31A66}" destId="{779ABD1B-6651-46D5-9967-005EFA29086C}" srcOrd="1" destOrd="0" parTransId="{A81C3348-0D3D-425D-9826-6E4CF602BF58}" sibTransId="{8B1AAAE3-AE1B-4624-957A-422CFF9D93E2}"/>
    <dgm:cxn modelId="{5C13B740-FEBD-4C46-A21E-6B2AB747B572}" srcId="{F4106916-07DE-4016-B897-C2F3FBA048F4}" destId="{B18FE524-B139-484B-86CE-F0B686F50725}" srcOrd="0" destOrd="0" parTransId="{367F8E78-7FFF-45AF-B831-3CC7E8C39C9E}" sibTransId="{82072DAD-289E-45DE-834B-4E59179F6C31}"/>
    <dgm:cxn modelId="{B3E4065B-0314-47A6-A651-4CEF1F4D2B6F}" type="presOf" srcId="{B18FE524-B139-484B-86CE-F0B686F50725}" destId="{C79DD3D0-A662-42AF-A26B-4600C53DB70E}" srcOrd="0" destOrd="0" presId="urn:microsoft.com/office/officeart/2016/7/layout/VerticalHollowActionList"/>
    <dgm:cxn modelId="{F219676A-34E3-4E92-BBBA-65AF565E00B8}" srcId="{EB7A623F-4B63-4E76-BD94-1E99C0A31A66}" destId="{F4106916-07DE-4016-B897-C2F3FBA048F4}" srcOrd="2" destOrd="0" parTransId="{C55E1E2C-4314-4B94-8EE6-A6C552F8CC06}" sibTransId="{F43FFECF-F6FF-4938-B9B1-4F4D3BEC4D8B}"/>
    <dgm:cxn modelId="{D5BF176D-2547-40D1-BE1A-9531EE405903}" type="presOf" srcId="{F4106916-07DE-4016-B897-C2F3FBA048F4}" destId="{F36830F6-A8F9-4622-B175-8E8FE69957F0}" srcOrd="0" destOrd="0" presId="urn:microsoft.com/office/officeart/2016/7/layout/VerticalHollowActionList"/>
    <dgm:cxn modelId="{54980B56-BD10-4034-9AB6-1A69564A7040}" srcId="{9C901B42-33A6-49A7-BFF6-97D19737C39C}" destId="{9E2EF578-18EB-40BD-B1CA-74D35FCA6171}" srcOrd="0" destOrd="0" parTransId="{0FAEE589-40F6-4825-8469-27500E520A16}" sibTransId="{04F9F368-4C50-4B95-8C02-B44E8D89DE3A}"/>
    <dgm:cxn modelId="{CB2D6157-DA93-4604-A998-880539A763CB}" srcId="{779ABD1B-6651-46D5-9967-005EFA29086C}" destId="{1D7189C9-1580-4EFC-A119-A07DD01321B1}" srcOrd="0" destOrd="0" parTransId="{96A31969-0A60-4C76-ABF0-E584653F1712}" sibTransId="{9BF9971F-B5FA-43C0-B28A-27EF5D38AB0E}"/>
    <dgm:cxn modelId="{1E00B484-1A6C-4BD1-B8CF-7D598187D38F}" type="presOf" srcId="{9E2EF578-18EB-40BD-B1CA-74D35FCA6171}" destId="{3F1E599D-15D8-425A-8828-CC4C9B8B3AC0}" srcOrd="0" destOrd="0" presId="urn:microsoft.com/office/officeart/2016/7/layout/VerticalHollowActionList"/>
    <dgm:cxn modelId="{17C05DAF-26F0-4B68-91CA-3AEC845B51DC}" srcId="{EB7A623F-4B63-4E76-BD94-1E99C0A31A66}" destId="{53F09DE0-EBCA-429A-82F8-B61618D3831A}" srcOrd="0" destOrd="0" parTransId="{426CA6FA-B4EF-4CC8-944B-662FBBC37FFB}" sibTransId="{7BF2A173-7E4B-4FCD-9DA6-CE7605630A08}"/>
    <dgm:cxn modelId="{6D6319E4-BD4F-4BEB-BA3D-BF2E0EF8BBC5}" type="presOf" srcId="{53F09DE0-EBCA-429A-82F8-B61618D3831A}" destId="{F711CBFC-6BF5-4DEA-B96D-8D226C6992A2}" srcOrd="0" destOrd="0" presId="urn:microsoft.com/office/officeart/2016/7/layout/VerticalHollowActionList"/>
    <dgm:cxn modelId="{B2FCBDEF-4198-47E2-B1C7-62BFD04FF1AC}" srcId="{EB7A623F-4B63-4E76-BD94-1E99C0A31A66}" destId="{9C901B42-33A6-49A7-BFF6-97D19737C39C}" srcOrd="3" destOrd="0" parTransId="{00C4E464-DE3B-41FD-A60C-4478873DC8B6}" sibTransId="{90107EC3-4769-4B7C-8621-86B1740ECD88}"/>
    <dgm:cxn modelId="{733F80F0-2341-46F9-BDEE-807B7A6E681A}" srcId="{53F09DE0-EBCA-429A-82F8-B61618D3831A}" destId="{613E207F-7F27-4252-A804-47492260517F}" srcOrd="0" destOrd="0" parTransId="{4F15E3BA-3FBC-44FD-B008-8BC844328B06}" sibTransId="{A7E134AD-0FFB-4454-84EE-81044D2623DF}"/>
    <dgm:cxn modelId="{528FA083-9C9C-453B-A699-FFF17517E676}" type="presParOf" srcId="{5C15D2C6-9C8A-4BF6-B075-124C332B9179}" destId="{B6ABCA16-4CD5-4C6C-AA7E-760C04B319D4}" srcOrd="0" destOrd="0" presId="urn:microsoft.com/office/officeart/2016/7/layout/VerticalHollowActionList"/>
    <dgm:cxn modelId="{2A9FAEBA-8E6B-4BBF-BCC5-1155E7B471AC}" type="presParOf" srcId="{B6ABCA16-4CD5-4C6C-AA7E-760C04B319D4}" destId="{F711CBFC-6BF5-4DEA-B96D-8D226C6992A2}" srcOrd="0" destOrd="0" presId="urn:microsoft.com/office/officeart/2016/7/layout/VerticalHollowActionList"/>
    <dgm:cxn modelId="{7063EEDD-CC35-4A71-91A2-D341803DD115}" type="presParOf" srcId="{B6ABCA16-4CD5-4C6C-AA7E-760C04B319D4}" destId="{D81634F6-C8B5-4876-A3E6-83F8C4262373}" srcOrd="1" destOrd="0" presId="urn:microsoft.com/office/officeart/2016/7/layout/VerticalHollowActionList"/>
    <dgm:cxn modelId="{2C19BDF0-BB3C-4ED8-A4AE-40DD244C4051}" type="presParOf" srcId="{5C15D2C6-9C8A-4BF6-B075-124C332B9179}" destId="{FD01D0AA-940F-45C5-B641-05A53A8509E8}" srcOrd="1" destOrd="0" presId="urn:microsoft.com/office/officeart/2016/7/layout/VerticalHollowActionList"/>
    <dgm:cxn modelId="{5E1C6571-43F1-4C0C-8F9B-6ACAA2F88100}" type="presParOf" srcId="{5C15D2C6-9C8A-4BF6-B075-124C332B9179}" destId="{D35B03CB-EDAE-4F6B-A399-FF2DAB12CB1E}" srcOrd="2" destOrd="0" presId="urn:microsoft.com/office/officeart/2016/7/layout/VerticalHollowActionList"/>
    <dgm:cxn modelId="{004B4ABE-470E-48C4-BB13-312A93B4177D}" type="presParOf" srcId="{D35B03CB-EDAE-4F6B-A399-FF2DAB12CB1E}" destId="{833328F9-C80D-4834-A1ED-4469946020F4}" srcOrd="0" destOrd="0" presId="urn:microsoft.com/office/officeart/2016/7/layout/VerticalHollowActionList"/>
    <dgm:cxn modelId="{C1CD6C41-7E3C-4E49-8A7E-3886B90B6579}" type="presParOf" srcId="{D35B03CB-EDAE-4F6B-A399-FF2DAB12CB1E}" destId="{57D44080-93F4-4C2B-AB40-4E2A544DAACD}" srcOrd="1" destOrd="0" presId="urn:microsoft.com/office/officeart/2016/7/layout/VerticalHollowActionList"/>
    <dgm:cxn modelId="{8EAD1F8C-7794-4240-84AE-07D919953116}" type="presParOf" srcId="{5C15D2C6-9C8A-4BF6-B075-124C332B9179}" destId="{BB571001-4D8E-4B0A-B340-9DC5867CBB71}" srcOrd="3" destOrd="0" presId="urn:microsoft.com/office/officeart/2016/7/layout/VerticalHollowActionList"/>
    <dgm:cxn modelId="{664B3BDC-291E-4812-BF16-64950C7EAF4F}" type="presParOf" srcId="{5C15D2C6-9C8A-4BF6-B075-124C332B9179}" destId="{FC0CCB40-F318-4C1C-B8FD-13B785CAC111}" srcOrd="4" destOrd="0" presId="urn:microsoft.com/office/officeart/2016/7/layout/VerticalHollowActionList"/>
    <dgm:cxn modelId="{CD8F0F4F-CA8D-4131-9660-6AB7B1328CF5}" type="presParOf" srcId="{FC0CCB40-F318-4C1C-B8FD-13B785CAC111}" destId="{F36830F6-A8F9-4622-B175-8E8FE69957F0}" srcOrd="0" destOrd="0" presId="urn:microsoft.com/office/officeart/2016/7/layout/VerticalHollowActionList"/>
    <dgm:cxn modelId="{562E0D04-25AD-4482-9E1D-2FEA796109E0}" type="presParOf" srcId="{FC0CCB40-F318-4C1C-B8FD-13B785CAC111}" destId="{C79DD3D0-A662-42AF-A26B-4600C53DB70E}" srcOrd="1" destOrd="0" presId="urn:microsoft.com/office/officeart/2016/7/layout/VerticalHollowActionList"/>
    <dgm:cxn modelId="{6E87CE35-8851-45B3-A25C-A307DC5AC4FF}" type="presParOf" srcId="{5C15D2C6-9C8A-4BF6-B075-124C332B9179}" destId="{1BBC1CD5-AF2B-41B2-A57B-B18FD0E63562}" srcOrd="5" destOrd="0" presId="urn:microsoft.com/office/officeart/2016/7/layout/VerticalHollowActionList"/>
    <dgm:cxn modelId="{4D15B808-55DF-4076-933D-D8DA0CAA2214}" type="presParOf" srcId="{5C15D2C6-9C8A-4BF6-B075-124C332B9179}" destId="{166F801E-3ED2-4D31-A1FA-2AAB743AFF9A}" srcOrd="6" destOrd="0" presId="urn:microsoft.com/office/officeart/2016/7/layout/VerticalHollowActionList"/>
    <dgm:cxn modelId="{2D8557A9-D6A6-4181-95C5-D243DFB7214B}" type="presParOf" srcId="{166F801E-3ED2-4D31-A1FA-2AAB743AFF9A}" destId="{90593321-90D2-4C70-89F4-79715E9CAF09}" srcOrd="0" destOrd="0" presId="urn:microsoft.com/office/officeart/2016/7/layout/VerticalHollowActionList"/>
    <dgm:cxn modelId="{81316EE6-F3C1-45A6-BBE6-B5926E2B55CE}" type="presParOf" srcId="{166F801E-3ED2-4D31-A1FA-2AAB743AFF9A}" destId="{3F1E599D-15D8-425A-8828-CC4C9B8B3AC0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E3B159-D0B7-4B45-82C5-49E5E40C4989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8824FD-9BAD-484C-A1A6-BCCEFA2B8C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project analyzes bank loan data to derive business insights.</a:t>
          </a:r>
        </a:p>
      </dgm:t>
    </dgm:pt>
    <dgm:pt modelId="{7224E62D-3B4D-47BD-A72C-0B97708CC758}" type="parTrans" cxnId="{2B370F96-D7F5-442E-AA42-AC8B1B2AD8EB}">
      <dgm:prSet/>
      <dgm:spPr/>
      <dgm:t>
        <a:bodyPr/>
        <a:lstStyle/>
        <a:p>
          <a:endParaRPr lang="en-US"/>
        </a:p>
      </dgm:t>
    </dgm:pt>
    <dgm:pt modelId="{EF5C64D0-0293-4295-801A-E2062CB11D1E}" type="sibTrans" cxnId="{2B370F96-D7F5-442E-AA42-AC8B1B2AD8EB}">
      <dgm:prSet/>
      <dgm:spPr/>
      <dgm:t>
        <a:bodyPr/>
        <a:lstStyle/>
        <a:p>
          <a:endParaRPr lang="en-US"/>
        </a:p>
      </dgm:t>
    </dgm:pt>
    <dgm:pt modelId="{65522A01-E623-4831-9CFD-A61F862F35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is stored in MS SQL Server and visualized using Power BI.</a:t>
          </a:r>
        </a:p>
      </dgm:t>
    </dgm:pt>
    <dgm:pt modelId="{E75BDDB4-76D0-4099-BF6A-D77895E4B7CA}" type="parTrans" cxnId="{42A61FB0-EB88-4C9D-BCA8-AB085501667F}">
      <dgm:prSet/>
      <dgm:spPr/>
      <dgm:t>
        <a:bodyPr/>
        <a:lstStyle/>
        <a:p>
          <a:endParaRPr lang="en-US"/>
        </a:p>
      </dgm:t>
    </dgm:pt>
    <dgm:pt modelId="{595EB5CE-594A-4319-9AA8-06B716EB123E}" type="sibTrans" cxnId="{42A61FB0-EB88-4C9D-BCA8-AB085501667F}">
      <dgm:prSet/>
      <dgm:spPr/>
      <dgm:t>
        <a:bodyPr/>
        <a:lstStyle/>
        <a:p>
          <a:endParaRPr lang="en-US"/>
        </a:p>
      </dgm:t>
    </dgm:pt>
    <dgm:pt modelId="{C1BF8EDA-8137-4F10-ACA8-705688AEE2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solution supports decision-making using KPIs and dashboards.</a:t>
          </a:r>
        </a:p>
      </dgm:t>
    </dgm:pt>
    <dgm:pt modelId="{1A6AB337-DBFB-44E5-87D2-6AF45688CAFD}" type="parTrans" cxnId="{20F44FFC-593B-451B-81A1-644F899ECC65}">
      <dgm:prSet/>
      <dgm:spPr/>
      <dgm:t>
        <a:bodyPr/>
        <a:lstStyle/>
        <a:p>
          <a:endParaRPr lang="en-US"/>
        </a:p>
      </dgm:t>
    </dgm:pt>
    <dgm:pt modelId="{06B4E145-A9F2-4066-9C98-4AB8CF519460}" type="sibTrans" cxnId="{20F44FFC-593B-451B-81A1-644F899ECC65}">
      <dgm:prSet/>
      <dgm:spPr/>
      <dgm:t>
        <a:bodyPr/>
        <a:lstStyle/>
        <a:p>
          <a:endParaRPr lang="en-US"/>
        </a:p>
      </dgm:t>
    </dgm:pt>
    <dgm:pt modelId="{6C4F5931-1E9C-4789-9D86-81B52E67933D}" type="pres">
      <dgm:prSet presAssocID="{1EE3B159-D0B7-4B45-82C5-49E5E40C4989}" presName="root" presStyleCnt="0">
        <dgm:presLayoutVars>
          <dgm:dir/>
          <dgm:resizeHandles val="exact"/>
        </dgm:presLayoutVars>
      </dgm:prSet>
      <dgm:spPr/>
    </dgm:pt>
    <dgm:pt modelId="{45F868CA-49AB-46F6-9303-123CE508F817}" type="pres">
      <dgm:prSet presAssocID="{0A8824FD-9BAD-484C-A1A6-BCCEFA2B8CA1}" presName="compNode" presStyleCnt="0"/>
      <dgm:spPr/>
    </dgm:pt>
    <dgm:pt modelId="{2C6CC46A-26C4-4BFB-928D-C38FD21E13CD}" type="pres">
      <dgm:prSet presAssocID="{0A8824FD-9BAD-484C-A1A6-BCCEFA2B8CA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6487422D-5A85-4407-AFA0-2142207A15A3}" type="pres">
      <dgm:prSet presAssocID="{0A8824FD-9BAD-484C-A1A6-BCCEFA2B8CA1}" presName="spaceRect" presStyleCnt="0"/>
      <dgm:spPr/>
    </dgm:pt>
    <dgm:pt modelId="{BBC2FD5D-049E-4E0E-BDF9-DE803BF23F50}" type="pres">
      <dgm:prSet presAssocID="{0A8824FD-9BAD-484C-A1A6-BCCEFA2B8CA1}" presName="textRect" presStyleLbl="revTx" presStyleIdx="0" presStyleCnt="3">
        <dgm:presLayoutVars>
          <dgm:chMax val="1"/>
          <dgm:chPref val="1"/>
        </dgm:presLayoutVars>
      </dgm:prSet>
      <dgm:spPr/>
    </dgm:pt>
    <dgm:pt modelId="{58DD9F62-81B0-4E57-89C2-04F8B1483D40}" type="pres">
      <dgm:prSet presAssocID="{EF5C64D0-0293-4295-801A-E2062CB11D1E}" presName="sibTrans" presStyleCnt="0"/>
      <dgm:spPr/>
    </dgm:pt>
    <dgm:pt modelId="{46832969-8229-41D3-970C-454620B4D958}" type="pres">
      <dgm:prSet presAssocID="{65522A01-E623-4831-9CFD-A61F862F35E9}" presName="compNode" presStyleCnt="0"/>
      <dgm:spPr/>
    </dgm:pt>
    <dgm:pt modelId="{13917026-9D90-4F9A-A755-D05F0F27E371}" type="pres">
      <dgm:prSet presAssocID="{65522A01-E623-4831-9CFD-A61F862F35E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5401399-0585-445B-B935-DA40E3FD7001}" type="pres">
      <dgm:prSet presAssocID="{65522A01-E623-4831-9CFD-A61F862F35E9}" presName="spaceRect" presStyleCnt="0"/>
      <dgm:spPr/>
    </dgm:pt>
    <dgm:pt modelId="{C8A765CA-ED09-4645-9552-CD1C20ACBED1}" type="pres">
      <dgm:prSet presAssocID="{65522A01-E623-4831-9CFD-A61F862F35E9}" presName="textRect" presStyleLbl="revTx" presStyleIdx="1" presStyleCnt="3">
        <dgm:presLayoutVars>
          <dgm:chMax val="1"/>
          <dgm:chPref val="1"/>
        </dgm:presLayoutVars>
      </dgm:prSet>
      <dgm:spPr/>
    </dgm:pt>
    <dgm:pt modelId="{EAD7F503-9542-4200-97E1-0ECFF7E98A7D}" type="pres">
      <dgm:prSet presAssocID="{595EB5CE-594A-4319-9AA8-06B716EB123E}" presName="sibTrans" presStyleCnt="0"/>
      <dgm:spPr/>
    </dgm:pt>
    <dgm:pt modelId="{4EED15DC-DF57-4E67-9EA3-495C05698F16}" type="pres">
      <dgm:prSet presAssocID="{C1BF8EDA-8137-4F10-ACA8-705688AEE2C3}" presName="compNode" presStyleCnt="0"/>
      <dgm:spPr/>
    </dgm:pt>
    <dgm:pt modelId="{115FAFDA-FFAC-400D-A91A-FEAD3D38B404}" type="pres">
      <dgm:prSet presAssocID="{C1BF8EDA-8137-4F10-ACA8-705688AEE2C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801C2617-B04A-4B71-9D00-5F4B90CA6819}" type="pres">
      <dgm:prSet presAssocID="{C1BF8EDA-8137-4F10-ACA8-705688AEE2C3}" presName="spaceRect" presStyleCnt="0"/>
      <dgm:spPr/>
    </dgm:pt>
    <dgm:pt modelId="{63875020-0B30-4951-BD8B-1919F6A9C7BA}" type="pres">
      <dgm:prSet presAssocID="{C1BF8EDA-8137-4F10-ACA8-705688AEE2C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7544D15-3DCD-4D18-813E-5100D494AA98}" type="presOf" srcId="{0A8824FD-9BAD-484C-A1A6-BCCEFA2B8CA1}" destId="{BBC2FD5D-049E-4E0E-BDF9-DE803BF23F50}" srcOrd="0" destOrd="0" presId="urn:microsoft.com/office/officeart/2018/2/layout/IconLabelList"/>
    <dgm:cxn modelId="{527B7154-9E14-4C30-BC10-1DE44D4D3530}" type="presOf" srcId="{1EE3B159-D0B7-4B45-82C5-49E5E40C4989}" destId="{6C4F5931-1E9C-4789-9D86-81B52E67933D}" srcOrd="0" destOrd="0" presId="urn:microsoft.com/office/officeart/2018/2/layout/IconLabelList"/>
    <dgm:cxn modelId="{2B370F96-D7F5-442E-AA42-AC8B1B2AD8EB}" srcId="{1EE3B159-D0B7-4B45-82C5-49E5E40C4989}" destId="{0A8824FD-9BAD-484C-A1A6-BCCEFA2B8CA1}" srcOrd="0" destOrd="0" parTransId="{7224E62D-3B4D-47BD-A72C-0B97708CC758}" sibTransId="{EF5C64D0-0293-4295-801A-E2062CB11D1E}"/>
    <dgm:cxn modelId="{D83F2398-4E15-44F9-BF17-153343C9E976}" type="presOf" srcId="{C1BF8EDA-8137-4F10-ACA8-705688AEE2C3}" destId="{63875020-0B30-4951-BD8B-1919F6A9C7BA}" srcOrd="0" destOrd="0" presId="urn:microsoft.com/office/officeart/2018/2/layout/IconLabelList"/>
    <dgm:cxn modelId="{42A61FB0-EB88-4C9D-BCA8-AB085501667F}" srcId="{1EE3B159-D0B7-4B45-82C5-49E5E40C4989}" destId="{65522A01-E623-4831-9CFD-A61F862F35E9}" srcOrd="1" destOrd="0" parTransId="{E75BDDB4-76D0-4099-BF6A-D77895E4B7CA}" sibTransId="{595EB5CE-594A-4319-9AA8-06B716EB123E}"/>
    <dgm:cxn modelId="{018575EC-279A-4C43-B3A0-D997E5BCB307}" type="presOf" srcId="{65522A01-E623-4831-9CFD-A61F862F35E9}" destId="{C8A765CA-ED09-4645-9552-CD1C20ACBED1}" srcOrd="0" destOrd="0" presId="urn:microsoft.com/office/officeart/2018/2/layout/IconLabelList"/>
    <dgm:cxn modelId="{20F44FFC-593B-451B-81A1-644F899ECC65}" srcId="{1EE3B159-D0B7-4B45-82C5-49E5E40C4989}" destId="{C1BF8EDA-8137-4F10-ACA8-705688AEE2C3}" srcOrd="2" destOrd="0" parTransId="{1A6AB337-DBFB-44E5-87D2-6AF45688CAFD}" sibTransId="{06B4E145-A9F2-4066-9C98-4AB8CF519460}"/>
    <dgm:cxn modelId="{33CA7C8A-78E5-40FB-82E4-5D2701EEFBE2}" type="presParOf" srcId="{6C4F5931-1E9C-4789-9D86-81B52E67933D}" destId="{45F868CA-49AB-46F6-9303-123CE508F817}" srcOrd="0" destOrd="0" presId="urn:microsoft.com/office/officeart/2018/2/layout/IconLabelList"/>
    <dgm:cxn modelId="{53578879-2F67-486F-AA5B-35AAD52D726D}" type="presParOf" srcId="{45F868CA-49AB-46F6-9303-123CE508F817}" destId="{2C6CC46A-26C4-4BFB-928D-C38FD21E13CD}" srcOrd="0" destOrd="0" presId="urn:microsoft.com/office/officeart/2018/2/layout/IconLabelList"/>
    <dgm:cxn modelId="{0C544217-8670-4FCF-9B41-3CB933BB4B57}" type="presParOf" srcId="{45F868CA-49AB-46F6-9303-123CE508F817}" destId="{6487422D-5A85-4407-AFA0-2142207A15A3}" srcOrd="1" destOrd="0" presId="urn:microsoft.com/office/officeart/2018/2/layout/IconLabelList"/>
    <dgm:cxn modelId="{8BEF3BA1-75CD-4840-AADF-DDE3D59E7C9F}" type="presParOf" srcId="{45F868CA-49AB-46F6-9303-123CE508F817}" destId="{BBC2FD5D-049E-4E0E-BDF9-DE803BF23F50}" srcOrd="2" destOrd="0" presId="urn:microsoft.com/office/officeart/2018/2/layout/IconLabelList"/>
    <dgm:cxn modelId="{74379435-FEF8-4BD8-8E4C-6133038F940B}" type="presParOf" srcId="{6C4F5931-1E9C-4789-9D86-81B52E67933D}" destId="{58DD9F62-81B0-4E57-89C2-04F8B1483D40}" srcOrd="1" destOrd="0" presId="urn:microsoft.com/office/officeart/2018/2/layout/IconLabelList"/>
    <dgm:cxn modelId="{1A961B8B-E824-4EC5-9461-94B4EB868494}" type="presParOf" srcId="{6C4F5931-1E9C-4789-9D86-81B52E67933D}" destId="{46832969-8229-41D3-970C-454620B4D958}" srcOrd="2" destOrd="0" presId="urn:microsoft.com/office/officeart/2018/2/layout/IconLabelList"/>
    <dgm:cxn modelId="{DECEE56D-04C4-45E5-A9C7-56AC1A87E7F0}" type="presParOf" srcId="{46832969-8229-41D3-970C-454620B4D958}" destId="{13917026-9D90-4F9A-A755-D05F0F27E371}" srcOrd="0" destOrd="0" presId="urn:microsoft.com/office/officeart/2018/2/layout/IconLabelList"/>
    <dgm:cxn modelId="{5DC2AC49-D23B-4552-800D-5A42D5DB5B83}" type="presParOf" srcId="{46832969-8229-41D3-970C-454620B4D958}" destId="{C5401399-0585-445B-B935-DA40E3FD7001}" srcOrd="1" destOrd="0" presId="urn:microsoft.com/office/officeart/2018/2/layout/IconLabelList"/>
    <dgm:cxn modelId="{41FDAD39-3F0B-407F-B3E0-1DD9E3F6E5D8}" type="presParOf" srcId="{46832969-8229-41D3-970C-454620B4D958}" destId="{C8A765CA-ED09-4645-9552-CD1C20ACBED1}" srcOrd="2" destOrd="0" presId="urn:microsoft.com/office/officeart/2018/2/layout/IconLabelList"/>
    <dgm:cxn modelId="{97BD4D50-8A6D-413C-BDA3-595A96703C33}" type="presParOf" srcId="{6C4F5931-1E9C-4789-9D86-81B52E67933D}" destId="{EAD7F503-9542-4200-97E1-0ECFF7E98A7D}" srcOrd="3" destOrd="0" presId="urn:microsoft.com/office/officeart/2018/2/layout/IconLabelList"/>
    <dgm:cxn modelId="{4412D9BD-6CE5-43D3-B06C-B1272E2D0BED}" type="presParOf" srcId="{6C4F5931-1E9C-4789-9D86-81B52E67933D}" destId="{4EED15DC-DF57-4E67-9EA3-495C05698F16}" srcOrd="4" destOrd="0" presId="urn:microsoft.com/office/officeart/2018/2/layout/IconLabelList"/>
    <dgm:cxn modelId="{608D91FA-595D-4648-874E-D293919F8734}" type="presParOf" srcId="{4EED15DC-DF57-4E67-9EA3-495C05698F16}" destId="{115FAFDA-FFAC-400D-A91A-FEAD3D38B404}" srcOrd="0" destOrd="0" presId="urn:microsoft.com/office/officeart/2018/2/layout/IconLabelList"/>
    <dgm:cxn modelId="{B2AAE7E5-5C1F-4FBE-80E3-38E2E114D23B}" type="presParOf" srcId="{4EED15DC-DF57-4E67-9EA3-495C05698F16}" destId="{801C2617-B04A-4B71-9D00-5F4B90CA6819}" srcOrd="1" destOrd="0" presId="urn:microsoft.com/office/officeart/2018/2/layout/IconLabelList"/>
    <dgm:cxn modelId="{44919967-5701-4BC8-9147-FA668A621B4E}" type="presParOf" srcId="{4EED15DC-DF57-4E67-9EA3-495C05698F16}" destId="{63875020-0B30-4951-BD8B-1919F6A9C7B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668833-DED9-433A-A5B6-33C7C67F6F49}" type="doc">
      <dgm:prSet loTypeId="urn:microsoft.com/office/officeart/2005/8/layout/matrix3" loCatId="matrix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EBAA440-140A-4318-A8FF-530A17938ACF}">
      <dgm:prSet/>
      <dgm:spPr/>
      <dgm:t>
        <a:bodyPr/>
        <a:lstStyle/>
        <a:p>
          <a:r>
            <a:rPr lang="en-US"/>
            <a:t>• Created Database and Tables</a:t>
          </a:r>
        </a:p>
      </dgm:t>
    </dgm:pt>
    <dgm:pt modelId="{686CDABA-A5C1-46F4-8D3C-82EFEBA03EB9}" type="parTrans" cxnId="{58181519-9A57-4A59-BBDF-03A337DB336E}">
      <dgm:prSet/>
      <dgm:spPr/>
      <dgm:t>
        <a:bodyPr/>
        <a:lstStyle/>
        <a:p>
          <a:endParaRPr lang="en-US"/>
        </a:p>
      </dgm:t>
    </dgm:pt>
    <dgm:pt modelId="{6011C92F-839E-48F4-9010-1A951D52422B}" type="sibTrans" cxnId="{58181519-9A57-4A59-BBDF-03A337DB336E}">
      <dgm:prSet/>
      <dgm:spPr/>
      <dgm:t>
        <a:bodyPr/>
        <a:lstStyle/>
        <a:p>
          <a:endParaRPr lang="en-US"/>
        </a:p>
      </dgm:t>
    </dgm:pt>
    <dgm:pt modelId="{CFC79B44-CF94-48EB-8DB7-DDB984656DF5}">
      <dgm:prSet/>
      <dgm:spPr/>
      <dgm:t>
        <a:bodyPr/>
        <a:lstStyle/>
        <a:p>
          <a:r>
            <a:rPr lang="en-US"/>
            <a:t>• Imported loan data into SQL Server</a:t>
          </a:r>
        </a:p>
      </dgm:t>
    </dgm:pt>
    <dgm:pt modelId="{3A1F3D72-98C5-4AD5-8D34-A36AF886A113}" type="parTrans" cxnId="{FF3153E5-FA59-4A54-9AA5-D92BF3E08BDC}">
      <dgm:prSet/>
      <dgm:spPr/>
      <dgm:t>
        <a:bodyPr/>
        <a:lstStyle/>
        <a:p>
          <a:endParaRPr lang="en-US"/>
        </a:p>
      </dgm:t>
    </dgm:pt>
    <dgm:pt modelId="{857C01AE-DDE9-4482-97C8-E1C5AA19E37A}" type="sibTrans" cxnId="{FF3153E5-FA59-4A54-9AA5-D92BF3E08BDC}">
      <dgm:prSet/>
      <dgm:spPr/>
      <dgm:t>
        <a:bodyPr/>
        <a:lstStyle/>
        <a:p>
          <a:endParaRPr lang="en-US"/>
        </a:p>
      </dgm:t>
    </dgm:pt>
    <dgm:pt modelId="{E26980AE-21D7-461F-8D8C-108C957ADE4A}">
      <dgm:prSet/>
      <dgm:spPr/>
      <dgm:t>
        <a:bodyPr/>
        <a:lstStyle/>
        <a:p>
          <a:r>
            <a:rPr lang="en-US"/>
            <a:t>• Cleaned and transformed data</a:t>
          </a:r>
        </a:p>
      </dgm:t>
    </dgm:pt>
    <dgm:pt modelId="{13BDB8A4-665B-4D93-A268-29B2C0BE9FFD}" type="parTrans" cxnId="{933CB504-BD5D-499D-A73A-3741631825D3}">
      <dgm:prSet/>
      <dgm:spPr/>
      <dgm:t>
        <a:bodyPr/>
        <a:lstStyle/>
        <a:p>
          <a:endParaRPr lang="en-US"/>
        </a:p>
      </dgm:t>
    </dgm:pt>
    <dgm:pt modelId="{86C00649-3B33-467A-9DDF-B3933A41D613}" type="sibTrans" cxnId="{933CB504-BD5D-499D-A73A-3741631825D3}">
      <dgm:prSet/>
      <dgm:spPr/>
      <dgm:t>
        <a:bodyPr/>
        <a:lstStyle/>
        <a:p>
          <a:endParaRPr lang="en-US"/>
        </a:p>
      </dgm:t>
    </dgm:pt>
    <dgm:pt modelId="{6AA346BC-735B-46C5-957C-086EF9086BB4}">
      <dgm:prSet/>
      <dgm:spPr/>
      <dgm:t>
        <a:bodyPr/>
        <a:lstStyle/>
        <a:p>
          <a:r>
            <a:rPr lang="en-US"/>
            <a:t>• Fired SQL queries to solve business problems</a:t>
          </a:r>
        </a:p>
      </dgm:t>
    </dgm:pt>
    <dgm:pt modelId="{8AA27203-793A-42F8-AB3F-ACFA6EF33F13}" type="parTrans" cxnId="{A2249AAE-BE92-48C4-8831-7D25CA4717BD}">
      <dgm:prSet/>
      <dgm:spPr/>
      <dgm:t>
        <a:bodyPr/>
        <a:lstStyle/>
        <a:p>
          <a:endParaRPr lang="en-US"/>
        </a:p>
      </dgm:t>
    </dgm:pt>
    <dgm:pt modelId="{7661BFC4-E900-40B3-9578-F7BEE5ACC63C}" type="sibTrans" cxnId="{A2249AAE-BE92-48C4-8831-7D25CA4717BD}">
      <dgm:prSet/>
      <dgm:spPr/>
      <dgm:t>
        <a:bodyPr/>
        <a:lstStyle/>
        <a:p>
          <a:endParaRPr lang="en-US"/>
        </a:p>
      </dgm:t>
    </dgm:pt>
    <dgm:pt modelId="{560B1BAB-6BA7-4254-B2BF-A5F069A754AD}" type="pres">
      <dgm:prSet presAssocID="{C7668833-DED9-433A-A5B6-33C7C67F6F49}" presName="matrix" presStyleCnt="0">
        <dgm:presLayoutVars>
          <dgm:chMax val="1"/>
          <dgm:dir/>
          <dgm:resizeHandles val="exact"/>
        </dgm:presLayoutVars>
      </dgm:prSet>
      <dgm:spPr/>
    </dgm:pt>
    <dgm:pt modelId="{46E609BC-4BF9-4B2C-AC7F-97CA13609AAE}" type="pres">
      <dgm:prSet presAssocID="{C7668833-DED9-433A-A5B6-33C7C67F6F49}" presName="diamond" presStyleLbl="bgShp" presStyleIdx="0" presStyleCnt="1"/>
      <dgm:spPr/>
    </dgm:pt>
    <dgm:pt modelId="{5DCA7DE6-311D-4CF4-BDF2-51F1C57B871B}" type="pres">
      <dgm:prSet presAssocID="{C7668833-DED9-433A-A5B6-33C7C67F6F4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A92F1CE-4D08-4C13-8540-EA9E23843B05}" type="pres">
      <dgm:prSet presAssocID="{C7668833-DED9-433A-A5B6-33C7C67F6F4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14449E0-4BDD-48E0-9658-4A6A9A72164D}" type="pres">
      <dgm:prSet presAssocID="{C7668833-DED9-433A-A5B6-33C7C67F6F4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F4B8774-E126-4343-A11E-FCB28F8F2159}" type="pres">
      <dgm:prSet presAssocID="{C7668833-DED9-433A-A5B6-33C7C67F6F4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33CB504-BD5D-499D-A73A-3741631825D3}" srcId="{C7668833-DED9-433A-A5B6-33C7C67F6F49}" destId="{E26980AE-21D7-461F-8D8C-108C957ADE4A}" srcOrd="2" destOrd="0" parTransId="{13BDB8A4-665B-4D93-A268-29B2C0BE9FFD}" sibTransId="{86C00649-3B33-467A-9DDF-B3933A41D613}"/>
    <dgm:cxn modelId="{58181519-9A57-4A59-BBDF-03A337DB336E}" srcId="{C7668833-DED9-433A-A5B6-33C7C67F6F49}" destId="{FEBAA440-140A-4318-A8FF-530A17938ACF}" srcOrd="0" destOrd="0" parTransId="{686CDABA-A5C1-46F4-8D3C-82EFEBA03EB9}" sibTransId="{6011C92F-839E-48F4-9010-1A951D52422B}"/>
    <dgm:cxn modelId="{01F98937-7F3A-4C5A-823F-230A6A6BF0E3}" type="presOf" srcId="{C7668833-DED9-433A-A5B6-33C7C67F6F49}" destId="{560B1BAB-6BA7-4254-B2BF-A5F069A754AD}" srcOrd="0" destOrd="0" presId="urn:microsoft.com/office/officeart/2005/8/layout/matrix3"/>
    <dgm:cxn modelId="{3255D99B-E5BA-4BED-BAD7-7AA6901499D9}" type="presOf" srcId="{6AA346BC-735B-46C5-957C-086EF9086BB4}" destId="{0F4B8774-E126-4343-A11E-FCB28F8F2159}" srcOrd="0" destOrd="0" presId="urn:microsoft.com/office/officeart/2005/8/layout/matrix3"/>
    <dgm:cxn modelId="{8C5A25A8-7392-4BC1-BF15-A73EDEAD05EA}" type="presOf" srcId="{E26980AE-21D7-461F-8D8C-108C957ADE4A}" destId="{014449E0-4BDD-48E0-9658-4A6A9A72164D}" srcOrd="0" destOrd="0" presId="urn:microsoft.com/office/officeart/2005/8/layout/matrix3"/>
    <dgm:cxn modelId="{0600A7A8-7C09-44DB-9029-CC14D96B795F}" type="presOf" srcId="{FEBAA440-140A-4318-A8FF-530A17938ACF}" destId="{5DCA7DE6-311D-4CF4-BDF2-51F1C57B871B}" srcOrd="0" destOrd="0" presId="urn:microsoft.com/office/officeart/2005/8/layout/matrix3"/>
    <dgm:cxn modelId="{A2249AAE-BE92-48C4-8831-7D25CA4717BD}" srcId="{C7668833-DED9-433A-A5B6-33C7C67F6F49}" destId="{6AA346BC-735B-46C5-957C-086EF9086BB4}" srcOrd="3" destOrd="0" parTransId="{8AA27203-793A-42F8-AB3F-ACFA6EF33F13}" sibTransId="{7661BFC4-E900-40B3-9578-F7BEE5ACC63C}"/>
    <dgm:cxn modelId="{E7D90CDE-7316-4EC4-9044-343BA71143D2}" type="presOf" srcId="{CFC79B44-CF94-48EB-8DB7-DDB984656DF5}" destId="{9A92F1CE-4D08-4C13-8540-EA9E23843B05}" srcOrd="0" destOrd="0" presId="urn:microsoft.com/office/officeart/2005/8/layout/matrix3"/>
    <dgm:cxn modelId="{FF3153E5-FA59-4A54-9AA5-D92BF3E08BDC}" srcId="{C7668833-DED9-433A-A5B6-33C7C67F6F49}" destId="{CFC79B44-CF94-48EB-8DB7-DDB984656DF5}" srcOrd="1" destOrd="0" parTransId="{3A1F3D72-98C5-4AD5-8D34-A36AF886A113}" sibTransId="{857C01AE-DDE9-4482-97C8-E1C5AA19E37A}"/>
    <dgm:cxn modelId="{DDFB9E5E-7D04-4696-8B61-3DD5C6273256}" type="presParOf" srcId="{560B1BAB-6BA7-4254-B2BF-A5F069A754AD}" destId="{46E609BC-4BF9-4B2C-AC7F-97CA13609AAE}" srcOrd="0" destOrd="0" presId="urn:microsoft.com/office/officeart/2005/8/layout/matrix3"/>
    <dgm:cxn modelId="{EC6A0ACD-B78A-448C-A4E5-1F2B899CCB9C}" type="presParOf" srcId="{560B1BAB-6BA7-4254-B2BF-A5F069A754AD}" destId="{5DCA7DE6-311D-4CF4-BDF2-51F1C57B871B}" srcOrd="1" destOrd="0" presId="urn:microsoft.com/office/officeart/2005/8/layout/matrix3"/>
    <dgm:cxn modelId="{E7C5E1B0-BEC9-4467-A647-0F94053E656C}" type="presParOf" srcId="{560B1BAB-6BA7-4254-B2BF-A5F069A754AD}" destId="{9A92F1CE-4D08-4C13-8540-EA9E23843B05}" srcOrd="2" destOrd="0" presId="urn:microsoft.com/office/officeart/2005/8/layout/matrix3"/>
    <dgm:cxn modelId="{41F93173-E46F-4145-AFB1-FD675B5A6FC7}" type="presParOf" srcId="{560B1BAB-6BA7-4254-B2BF-A5F069A754AD}" destId="{014449E0-4BDD-48E0-9658-4A6A9A72164D}" srcOrd="3" destOrd="0" presId="urn:microsoft.com/office/officeart/2005/8/layout/matrix3"/>
    <dgm:cxn modelId="{8966FE51-FA31-4EAA-A566-9087DF46FB70}" type="presParOf" srcId="{560B1BAB-6BA7-4254-B2BF-A5F069A754AD}" destId="{0F4B8774-E126-4343-A11E-FCB28F8F215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5DB7F81-DCD3-4159-8603-5C099A993A6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A8EDB57-EC98-4D10-B993-41FB561CF752}">
      <dgm:prSet/>
      <dgm:spPr/>
      <dgm:t>
        <a:bodyPr/>
        <a:lstStyle/>
        <a:p>
          <a:r>
            <a:rPr lang="en-US"/>
            <a:t>SELECT, WHERE, GROUP BY, ORDER BY</a:t>
          </a:r>
        </a:p>
      </dgm:t>
    </dgm:pt>
    <dgm:pt modelId="{C307AD84-38E3-4754-A405-A404A6030A17}" type="parTrans" cxnId="{20EC0044-EEB2-4A9B-B7A5-48B7B369314D}">
      <dgm:prSet/>
      <dgm:spPr/>
      <dgm:t>
        <a:bodyPr/>
        <a:lstStyle/>
        <a:p>
          <a:endParaRPr lang="en-US"/>
        </a:p>
      </dgm:t>
    </dgm:pt>
    <dgm:pt modelId="{F2E82AF5-0EC3-499E-B446-6BF606923E3F}" type="sibTrans" cxnId="{20EC0044-EEB2-4A9B-B7A5-48B7B369314D}">
      <dgm:prSet/>
      <dgm:spPr/>
      <dgm:t>
        <a:bodyPr/>
        <a:lstStyle/>
        <a:p>
          <a:endParaRPr lang="en-US"/>
        </a:p>
      </dgm:t>
    </dgm:pt>
    <dgm:pt modelId="{EA401D56-7998-411B-B372-544B84A3CF9B}">
      <dgm:prSet/>
      <dgm:spPr/>
      <dgm:t>
        <a:bodyPr/>
        <a:lstStyle/>
        <a:p>
          <a:r>
            <a:rPr lang="en-US"/>
            <a:t>COUNT, SUM, AVG, DISTINCT</a:t>
          </a:r>
        </a:p>
      </dgm:t>
    </dgm:pt>
    <dgm:pt modelId="{A16E3C86-A599-4E53-A4CA-D961EF5D33FF}" type="parTrans" cxnId="{20EB8FC6-84A6-4E23-8088-8318AE1D5B70}">
      <dgm:prSet/>
      <dgm:spPr/>
      <dgm:t>
        <a:bodyPr/>
        <a:lstStyle/>
        <a:p>
          <a:endParaRPr lang="en-US"/>
        </a:p>
      </dgm:t>
    </dgm:pt>
    <dgm:pt modelId="{C4CFCD3A-7FED-47FE-BA43-7582EA70A631}" type="sibTrans" cxnId="{20EB8FC6-84A6-4E23-8088-8318AE1D5B70}">
      <dgm:prSet/>
      <dgm:spPr/>
      <dgm:t>
        <a:bodyPr/>
        <a:lstStyle/>
        <a:p>
          <a:endParaRPr lang="en-US"/>
        </a:p>
      </dgm:t>
    </dgm:pt>
    <dgm:pt modelId="{52D4B102-862F-4880-8F3D-4DA52BB39F7E}">
      <dgm:prSet/>
      <dgm:spPr/>
      <dgm:t>
        <a:bodyPr/>
        <a:lstStyle/>
        <a:p>
          <a:r>
            <a:rPr lang="en-US"/>
            <a:t>CAST, DATEPART, MONTH, YEAR</a:t>
          </a:r>
        </a:p>
      </dgm:t>
    </dgm:pt>
    <dgm:pt modelId="{FCD4A825-6B5B-4AC9-979B-93DE862849E7}" type="parTrans" cxnId="{B5CFE446-7722-4480-9F51-AB8CC61AEFF4}">
      <dgm:prSet/>
      <dgm:spPr/>
      <dgm:t>
        <a:bodyPr/>
        <a:lstStyle/>
        <a:p>
          <a:endParaRPr lang="en-US"/>
        </a:p>
      </dgm:t>
    </dgm:pt>
    <dgm:pt modelId="{8D7C4998-F542-4357-B982-A4A0A7902FA7}" type="sibTrans" cxnId="{B5CFE446-7722-4480-9F51-AB8CC61AEFF4}">
      <dgm:prSet/>
      <dgm:spPr/>
      <dgm:t>
        <a:bodyPr/>
        <a:lstStyle/>
        <a:p>
          <a:endParaRPr lang="en-US"/>
        </a:p>
      </dgm:t>
    </dgm:pt>
    <dgm:pt modelId="{F48A65DF-E819-47E7-B1F4-433E31956CE0}">
      <dgm:prSet/>
      <dgm:spPr/>
      <dgm:t>
        <a:bodyPr/>
        <a:lstStyle/>
        <a:p>
          <a:r>
            <a:rPr lang="en-US"/>
            <a:t>CTE, PARTITION BY</a:t>
          </a:r>
        </a:p>
      </dgm:t>
    </dgm:pt>
    <dgm:pt modelId="{360F2D97-CE26-4CEC-90DE-E84D1A100BDE}" type="parTrans" cxnId="{D4C332B1-1440-4D7D-B71E-FA746E55932A}">
      <dgm:prSet/>
      <dgm:spPr/>
      <dgm:t>
        <a:bodyPr/>
        <a:lstStyle/>
        <a:p>
          <a:endParaRPr lang="en-US"/>
        </a:p>
      </dgm:t>
    </dgm:pt>
    <dgm:pt modelId="{199DDE5F-1CAB-44D3-BDB2-E4573E77E56C}" type="sibTrans" cxnId="{D4C332B1-1440-4D7D-B71E-FA746E55932A}">
      <dgm:prSet/>
      <dgm:spPr/>
      <dgm:t>
        <a:bodyPr/>
        <a:lstStyle/>
        <a:p>
          <a:endParaRPr lang="en-US"/>
        </a:p>
      </dgm:t>
    </dgm:pt>
    <dgm:pt modelId="{39572EAF-FCC9-4883-922A-0854581FBA76}" type="pres">
      <dgm:prSet presAssocID="{D5DB7F81-DCD3-4159-8603-5C099A993A6F}" presName="root" presStyleCnt="0">
        <dgm:presLayoutVars>
          <dgm:dir/>
          <dgm:resizeHandles val="exact"/>
        </dgm:presLayoutVars>
      </dgm:prSet>
      <dgm:spPr/>
    </dgm:pt>
    <dgm:pt modelId="{04DEF443-1909-4CA5-BABB-61E8C5A3E2F9}" type="pres">
      <dgm:prSet presAssocID="{8A8EDB57-EC98-4D10-B993-41FB561CF752}" presName="compNode" presStyleCnt="0"/>
      <dgm:spPr/>
    </dgm:pt>
    <dgm:pt modelId="{553BFA1C-56E0-49B5-B3DB-17B7D8D2D140}" type="pres">
      <dgm:prSet presAssocID="{8A8EDB57-EC98-4D10-B993-41FB561CF752}" presName="bgRect" presStyleLbl="bgShp" presStyleIdx="0" presStyleCnt="4"/>
      <dgm:spPr/>
    </dgm:pt>
    <dgm:pt modelId="{C6F4A2DE-5313-43DE-AD8B-0557B9E26F6F}" type="pres">
      <dgm:prSet presAssocID="{8A8EDB57-EC98-4D10-B993-41FB561CF75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93B39908-1D94-48E4-8B2B-E927AB18D4A9}" type="pres">
      <dgm:prSet presAssocID="{8A8EDB57-EC98-4D10-B993-41FB561CF752}" presName="spaceRect" presStyleCnt="0"/>
      <dgm:spPr/>
    </dgm:pt>
    <dgm:pt modelId="{ADAC0206-E30D-44B5-8D38-1F1C1C2F2EE2}" type="pres">
      <dgm:prSet presAssocID="{8A8EDB57-EC98-4D10-B993-41FB561CF752}" presName="parTx" presStyleLbl="revTx" presStyleIdx="0" presStyleCnt="4">
        <dgm:presLayoutVars>
          <dgm:chMax val="0"/>
          <dgm:chPref val="0"/>
        </dgm:presLayoutVars>
      </dgm:prSet>
      <dgm:spPr/>
    </dgm:pt>
    <dgm:pt modelId="{C02F3A2A-9078-4290-9BFC-DCA367DA7419}" type="pres">
      <dgm:prSet presAssocID="{F2E82AF5-0EC3-499E-B446-6BF606923E3F}" presName="sibTrans" presStyleCnt="0"/>
      <dgm:spPr/>
    </dgm:pt>
    <dgm:pt modelId="{F7BA08A8-12C9-4069-B817-4549B94BF97A}" type="pres">
      <dgm:prSet presAssocID="{EA401D56-7998-411B-B372-544B84A3CF9B}" presName="compNode" presStyleCnt="0"/>
      <dgm:spPr/>
    </dgm:pt>
    <dgm:pt modelId="{92DC0DD6-33FF-44FC-9598-F59086E64829}" type="pres">
      <dgm:prSet presAssocID="{EA401D56-7998-411B-B372-544B84A3CF9B}" presName="bgRect" presStyleLbl="bgShp" presStyleIdx="1" presStyleCnt="4"/>
      <dgm:spPr/>
    </dgm:pt>
    <dgm:pt modelId="{5BBFE785-2DFD-4951-9094-0913F20F2A5E}" type="pres">
      <dgm:prSet presAssocID="{EA401D56-7998-411B-B372-544B84A3CF9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83D5925C-F5AF-43BC-9BC7-1901C020D752}" type="pres">
      <dgm:prSet presAssocID="{EA401D56-7998-411B-B372-544B84A3CF9B}" presName="spaceRect" presStyleCnt="0"/>
      <dgm:spPr/>
    </dgm:pt>
    <dgm:pt modelId="{52FDF923-960A-4D26-B4BA-B169977416C8}" type="pres">
      <dgm:prSet presAssocID="{EA401D56-7998-411B-B372-544B84A3CF9B}" presName="parTx" presStyleLbl="revTx" presStyleIdx="1" presStyleCnt="4">
        <dgm:presLayoutVars>
          <dgm:chMax val="0"/>
          <dgm:chPref val="0"/>
        </dgm:presLayoutVars>
      </dgm:prSet>
      <dgm:spPr/>
    </dgm:pt>
    <dgm:pt modelId="{3CD5BF36-CC9D-4F39-A8E5-AD3C1BA518A8}" type="pres">
      <dgm:prSet presAssocID="{C4CFCD3A-7FED-47FE-BA43-7582EA70A631}" presName="sibTrans" presStyleCnt="0"/>
      <dgm:spPr/>
    </dgm:pt>
    <dgm:pt modelId="{6CE1BECE-B381-4B87-BFBB-385A94306FC4}" type="pres">
      <dgm:prSet presAssocID="{52D4B102-862F-4880-8F3D-4DA52BB39F7E}" presName="compNode" presStyleCnt="0"/>
      <dgm:spPr/>
    </dgm:pt>
    <dgm:pt modelId="{B45148C1-6C00-48D4-A5BC-B4C0BAE823A7}" type="pres">
      <dgm:prSet presAssocID="{52D4B102-862F-4880-8F3D-4DA52BB39F7E}" presName="bgRect" presStyleLbl="bgShp" presStyleIdx="2" presStyleCnt="4"/>
      <dgm:spPr/>
    </dgm:pt>
    <dgm:pt modelId="{4C244989-41FA-48C3-9805-DE3D210092D8}" type="pres">
      <dgm:prSet presAssocID="{52D4B102-862F-4880-8F3D-4DA52BB39F7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efighter"/>
        </a:ext>
      </dgm:extLst>
    </dgm:pt>
    <dgm:pt modelId="{637ACE18-A94C-454C-825D-F92584AF610F}" type="pres">
      <dgm:prSet presAssocID="{52D4B102-862F-4880-8F3D-4DA52BB39F7E}" presName="spaceRect" presStyleCnt="0"/>
      <dgm:spPr/>
    </dgm:pt>
    <dgm:pt modelId="{11B1798D-CC18-4871-BAE1-95C3E61332F7}" type="pres">
      <dgm:prSet presAssocID="{52D4B102-862F-4880-8F3D-4DA52BB39F7E}" presName="parTx" presStyleLbl="revTx" presStyleIdx="2" presStyleCnt="4">
        <dgm:presLayoutVars>
          <dgm:chMax val="0"/>
          <dgm:chPref val="0"/>
        </dgm:presLayoutVars>
      </dgm:prSet>
      <dgm:spPr/>
    </dgm:pt>
    <dgm:pt modelId="{6E174529-BB9F-40D6-B530-599D11567142}" type="pres">
      <dgm:prSet presAssocID="{8D7C4998-F542-4357-B982-A4A0A7902FA7}" presName="sibTrans" presStyleCnt="0"/>
      <dgm:spPr/>
    </dgm:pt>
    <dgm:pt modelId="{74F95D8C-DCC3-4F57-8E82-F5EE5CC7568A}" type="pres">
      <dgm:prSet presAssocID="{F48A65DF-E819-47E7-B1F4-433E31956CE0}" presName="compNode" presStyleCnt="0"/>
      <dgm:spPr/>
    </dgm:pt>
    <dgm:pt modelId="{42A0173E-CC11-45A6-BD13-833FEC554FA2}" type="pres">
      <dgm:prSet presAssocID="{F48A65DF-E819-47E7-B1F4-433E31956CE0}" presName="bgRect" presStyleLbl="bgShp" presStyleIdx="3" presStyleCnt="4"/>
      <dgm:spPr/>
    </dgm:pt>
    <dgm:pt modelId="{184ED4E5-4AE5-4127-8CDB-106C9BAC47A5}" type="pres">
      <dgm:prSet presAssocID="{F48A65DF-E819-47E7-B1F4-433E31956CE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22FE0173-0549-464C-80EC-4C49A2C2FA6F}" type="pres">
      <dgm:prSet presAssocID="{F48A65DF-E819-47E7-B1F4-433E31956CE0}" presName="spaceRect" presStyleCnt="0"/>
      <dgm:spPr/>
    </dgm:pt>
    <dgm:pt modelId="{D8402F13-3FD1-440B-898A-102C6320CEF7}" type="pres">
      <dgm:prSet presAssocID="{F48A65DF-E819-47E7-B1F4-433E31956CE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47F0633-9EEF-4885-879B-0EBC2A264332}" type="presOf" srcId="{8A8EDB57-EC98-4D10-B993-41FB561CF752}" destId="{ADAC0206-E30D-44B5-8D38-1F1C1C2F2EE2}" srcOrd="0" destOrd="0" presId="urn:microsoft.com/office/officeart/2018/2/layout/IconVerticalSolidList"/>
    <dgm:cxn modelId="{E7CFD43D-F06D-4C77-908E-32E0694EDA41}" type="presOf" srcId="{EA401D56-7998-411B-B372-544B84A3CF9B}" destId="{52FDF923-960A-4D26-B4BA-B169977416C8}" srcOrd="0" destOrd="0" presId="urn:microsoft.com/office/officeart/2018/2/layout/IconVerticalSolidList"/>
    <dgm:cxn modelId="{20EC0044-EEB2-4A9B-B7A5-48B7B369314D}" srcId="{D5DB7F81-DCD3-4159-8603-5C099A993A6F}" destId="{8A8EDB57-EC98-4D10-B993-41FB561CF752}" srcOrd="0" destOrd="0" parTransId="{C307AD84-38E3-4754-A405-A404A6030A17}" sibTransId="{F2E82AF5-0EC3-499E-B446-6BF606923E3F}"/>
    <dgm:cxn modelId="{0B3F1965-D6BD-441F-BBA2-7F14C8B05002}" type="presOf" srcId="{F48A65DF-E819-47E7-B1F4-433E31956CE0}" destId="{D8402F13-3FD1-440B-898A-102C6320CEF7}" srcOrd="0" destOrd="0" presId="urn:microsoft.com/office/officeart/2018/2/layout/IconVerticalSolidList"/>
    <dgm:cxn modelId="{B5CFE446-7722-4480-9F51-AB8CC61AEFF4}" srcId="{D5DB7F81-DCD3-4159-8603-5C099A993A6F}" destId="{52D4B102-862F-4880-8F3D-4DA52BB39F7E}" srcOrd="2" destOrd="0" parTransId="{FCD4A825-6B5B-4AC9-979B-93DE862849E7}" sibTransId="{8D7C4998-F542-4357-B982-A4A0A7902FA7}"/>
    <dgm:cxn modelId="{15034E99-E80C-4A36-87BB-566A6B267CD6}" type="presOf" srcId="{52D4B102-862F-4880-8F3D-4DA52BB39F7E}" destId="{11B1798D-CC18-4871-BAE1-95C3E61332F7}" srcOrd="0" destOrd="0" presId="urn:microsoft.com/office/officeart/2018/2/layout/IconVerticalSolidList"/>
    <dgm:cxn modelId="{D4C332B1-1440-4D7D-B71E-FA746E55932A}" srcId="{D5DB7F81-DCD3-4159-8603-5C099A993A6F}" destId="{F48A65DF-E819-47E7-B1F4-433E31956CE0}" srcOrd="3" destOrd="0" parTransId="{360F2D97-CE26-4CEC-90DE-E84D1A100BDE}" sibTransId="{199DDE5F-1CAB-44D3-BDB2-E4573E77E56C}"/>
    <dgm:cxn modelId="{20EB8FC6-84A6-4E23-8088-8318AE1D5B70}" srcId="{D5DB7F81-DCD3-4159-8603-5C099A993A6F}" destId="{EA401D56-7998-411B-B372-544B84A3CF9B}" srcOrd="1" destOrd="0" parTransId="{A16E3C86-A599-4E53-A4CA-D961EF5D33FF}" sibTransId="{C4CFCD3A-7FED-47FE-BA43-7582EA70A631}"/>
    <dgm:cxn modelId="{699F62ED-AE90-4E4F-AF40-B37793617C07}" type="presOf" srcId="{D5DB7F81-DCD3-4159-8603-5C099A993A6F}" destId="{39572EAF-FCC9-4883-922A-0854581FBA76}" srcOrd="0" destOrd="0" presId="urn:microsoft.com/office/officeart/2018/2/layout/IconVerticalSolidList"/>
    <dgm:cxn modelId="{82DB4BD6-AE5C-4BDE-B4C8-38A8D8968A96}" type="presParOf" srcId="{39572EAF-FCC9-4883-922A-0854581FBA76}" destId="{04DEF443-1909-4CA5-BABB-61E8C5A3E2F9}" srcOrd="0" destOrd="0" presId="urn:microsoft.com/office/officeart/2018/2/layout/IconVerticalSolidList"/>
    <dgm:cxn modelId="{ADC50442-3068-4EB8-9989-A9357C32663C}" type="presParOf" srcId="{04DEF443-1909-4CA5-BABB-61E8C5A3E2F9}" destId="{553BFA1C-56E0-49B5-B3DB-17B7D8D2D140}" srcOrd="0" destOrd="0" presId="urn:microsoft.com/office/officeart/2018/2/layout/IconVerticalSolidList"/>
    <dgm:cxn modelId="{FE69D62B-0947-42C2-87D4-2D5E9E2B3B86}" type="presParOf" srcId="{04DEF443-1909-4CA5-BABB-61E8C5A3E2F9}" destId="{C6F4A2DE-5313-43DE-AD8B-0557B9E26F6F}" srcOrd="1" destOrd="0" presId="urn:microsoft.com/office/officeart/2018/2/layout/IconVerticalSolidList"/>
    <dgm:cxn modelId="{EF74072C-B2FE-49BA-830E-E0D57ED2E1C2}" type="presParOf" srcId="{04DEF443-1909-4CA5-BABB-61E8C5A3E2F9}" destId="{93B39908-1D94-48E4-8B2B-E927AB18D4A9}" srcOrd="2" destOrd="0" presId="urn:microsoft.com/office/officeart/2018/2/layout/IconVerticalSolidList"/>
    <dgm:cxn modelId="{5FE2706C-C665-41F7-85AE-849299345480}" type="presParOf" srcId="{04DEF443-1909-4CA5-BABB-61E8C5A3E2F9}" destId="{ADAC0206-E30D-44B5-8D38-1F1C1C2F2EE2}" srcOrd="3" destOrd="0" presId="urn:microsoft.com/office/officeart/2018/2/layout/IconVerticalSolidList"/>
    <dgm:cxn modelId="{545F48A9-482D-42B5-84B1-7C4A367BFBED}" type="presParOf" srcId="{39572EAF-FCC9-4883-922A-0854581FBA76}" destId="{C02F3A2A-9078-4290-9BFC-DCA367DA7419}" srcOrd="1" destOrd="0" presId="urn:microsoft.com/office/officeart/2018/2/layout/IconVerticalSolidList"/>
    <dgm:cxn modelId="{9D4E1C2A-470C-4D84-B773-E749E033C9CC}" type="presParOf" srcId="{39572EAF-FCC9-4883-922A-0854581FBA76}" destId="{F7BA08A8-12C9-4069-B817-4549B94BF97A}" srcOrd="2" destOrd="0" presId="urn:microsoft.com/office/officeart/2018/2/layout/IconVerticalSolidList"/>
    <dgm:cxn modelId="{805B1291-90D2-4D09-BD36-61FBACCE7405}" type="presParOf" srcId="{F7BA08A8-12C9-4069-B817-4549B94BF97A}" destId="{92DC0DD6-33FF-44FC-9598-F59086E64829}" srcOrd="0" destOrd="0" presId="urn:microsoft.com/office/officeart/2018/2/layout/IconVerticalSolidList"/>
    <dgm:cxn modelId="{C4E60F66-AC57-47C4-8DF1-F59367CD8D2E}" type="presParOf" srcId="{F7BA08A8-12C9-4069-B817-4549B94BF97A}" destId="{5BBFE785-2DFD-4951-9094-0913F20F2A5E}" srcOrd="1" destOrd="0" presId="urn:microsoft.com/office/officeart/2018/2/layout/IconVerticalSolidList"/>
    <dgm:cxn modelId="{64EFCCE6-4E0C-4EF8-A740-BACADC381E9C}" type="presParOf" srcId="{F7BA08A8-12C9-4069-B817-4549B94BF97A}" destId="{83D5925C-F5AF-43BC-9BC7-1901C020D752}" srcOrd="2" destOrd="0" presId="urn:microsoft.com/office/officeart/2018/2/layout/IconVerticalSolidList"/>
    <dgm:cxn modelId="{276187AD-1A3F-415B-A663-8AD7C11A59BD}" type="presParOf" srcId="{F7BA08A8-12C9-4069-B817-4549B94BF97A}" destId="{52FDF923-960A-4D26-B4BA-B169977416C8}" srcOrd="3" destOrd="0" presId="urn:microsoft.com/office/officeart/2018/2/layout/IconVerticalSolidList"/>
    <dgm:cxn modelId="{17A59ACE-404F-475F-9D2E-76A82D5316FD}" type="presParOf" srcId="{39572EAF-FCC9-4883-922A-0854581FBA76}" destId="{3CD5BF36-CC9D-4F39-A8E5-AD3C1BA518A8}" srcOrd="3" destOrd="0" presId="urn:microsoft.com/office/officeart/2018/2/layout/IconVerticalSolidList"/>
    <dgm:cxn modelId="{B874CFAF-0B02-437D-8367-2A0A4BB7E406}" type="presParOf" srcId="{39572EAF-FCC9-4883-922A-0854581FBA76}" destId="{6CE1BECE-B381-4B87-BFBB-385A94306FC4}" srcOrd="4" destOrd="0" presId="urn:microsoft.com/office/officeart/2018/2/layout/IconVerticalSolidList"/>
    <dgm:cxn modelId="{4785F75D-AAB6-4F13-BF4B-EA8B1288F34E}" type="presParOf" srcId="{6CE1BECE-B381-4B87-BFBB-385A94306FC4}" destId="{B45148C1-6C00-48D4-A5BC-B4C0BAE823A7}" srcOrd="0" destOrd="0" presId="urn:microsoft.com/office/officeart/2018/2/layout/IconVerticalSolidList"/>
    <dgm:cxn modelId="{81E48C75-03DF-4EFC-8E60-F3B5B06318D3}" type="presParOf" srcId="{6CE1BECE-B381-4B87-BFBB-385A94306FC4}" destId="{4C244989-41FA-48C3-9805-DE3D210092D8}" srcOrd="1" destOrd="0" presId="urn:microsoft.com/office/officeart/2018/2/layout/IconVerticalSolidList"/>
    <dgm:cxn modelId="{73E42B98-A4D3-4E59-B4C9-68B48721AC56}" type="presParOf" srcId="{6CE1BECE-B381-4B87-BFBB-385A94306FC4}" destId="{637ACE18-A94C-454C-825D-F92584AF610F}" srcOrd="2" destOrd="0" presId="urn:microsoft.com/office/officeart/2018/2/layout/IconVerticalSolidList"/>
    <dgm:cxn modelId="{083E7A50-0C4D-4658-9423-F0E1A7E6853B}" type="presParOf" srcId="{6CE1BECE-B381-4B87-BFBB-385A94306FC4}" destId="{11B1798D-CC18-4871-BAE1-95C3E61332F7}" srcOrd="3" destOrd="0" presId="urn:microsoft.com/office/officeart/2018/2/layout/IconVerticalSolidList"/>
    <dgm:cxn modelId="{DEB4B863-4286-4279-A38F-79314E86FF2B}" type="presParOf" srcId="{39572EAF-FCC9-4883-922A-0854581FBA76}" destId="{6E174529-BB9F-40D6-B530-599D11567142}" srcOrd="5" destOrd="0" presId="urn:microsoft.com/office/officeart/2018/2/layout/IconVerticalSolidList"/>
    <dgm:cxn modelId="{E93AB702-AA7E-4CF7-9407-ACD7CF180E1D}" type="presParOf" srcId="{39572EAF-FCC9-4883-922A-0854581FBA76}" destId="{74F95D8C-DCC3-4F57-8E82-F5EE5CC7568A}" srcOrd="6" destOrd="0" presId="urn:microsoft.com/office/officeart/2018/2/layout/IconVerticalSolidList"/>
    <dgm:cxn modelId="{398AA025-7C6C-4103-BE38-F3C5F27C2AAA}" type="presParOf" srcId="{74F95D8C-DCC3-4F57-8E82-F5EE5CC7568A}" destId="{42A0173E-CC11-45A6-BD13-833FEC554FA2}" srcOrd="0" destOrd="0" presId="urn:microsoft.com/office/officeart/2018/2/layout/IconVerticalSolidList"/>
    <dgm:cxn modelId="{6F314973-D374-4A71-8370-217780E81AE8}" type="presParOf" srcId="{74F95D8C-DCC3-4F57-8E82-F5EE5CC7568A}" destId="{184ED4E5-4AE5-4127-8CDB-106C9BAC47A5}" srcOrd="1" destOrd="0" presId="urn:microsoft.com/office/officeart/2018/2/layout/IconVerticalSolidList"/>
    <dgm:cxn modelId="{D6A35475-AC00-49B4-B981-E196956D3AF4}" type="presParOf" srcId="{74F95D8C-DCC3-4F57-8E82-F5EE5CC7568A}" destId="{22FE0173-0549-464C-80EC-4C49A2C2FA6F}" srcOrd="2" destOrd="0" presId="urn:microsoft.com/office/officeart/2018/2/layout/IconVerticalSolidList"/>
    <dgm:cxn modelId="{37136F65-16F7-4934-9CF4-C365F3CF746A}" type="presParOf" srcId="{74F95D8C-DCC3-4F57-8E82-F5EE5CC7568A}" destId="{D8402F13-3FD1-440B-898A-102C6320CEF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C309BEA-786E-49DB-B406-5DECB020536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3D539A7-531D-4F67-9841-48D04E0FC546}">
      <dgm:prSet/>
      <dgm:spPr/>
      <dgm:t>
        <a:bodyPr/>
        <a:lstStyle/>
        <a:p>
          <a:r>
            <a:rPr lang="en-US"/>
            <a:t>• Connected Power BI to SQL Server</a:t>
          </a:r>
        </a:p>
      </dgm:t>
    </dgm:pt>
    <dgm:pt modelId="{00301D0A-AF07-48A3-96F7-9D65AB8DEB0C}" type="parTrans" cxnId="{6A82893A-2590-429D-A959-D5165588FCE1}">
      <dgm:prSet/>
      <dgm:spPr/>
      <dgm:t>
        <a:bodyPr/>
        <a:lstStyle/>
        <a:p>
          <a:endParaRPr lang="en-US"/>
        </a:p>
      </dgm:t>
    </dgm:pt>
    <dgm:pt modelId="{9D8190FC-0EEA-4474-978A-39E45352015C}" type="sibTrans" cxnId="{6A82893A-2590-429D-A959-D5165588FCE1}">
      <dgm:prSet/>
      <dgm:spPr/>
      <dgm:t>
        <a:bodyPr/>
        <a:lstStyle/>
        <a:p>
          <a:endParaRPr lang="en-US"/>
        </a:p>
      </dgm:t>
    </dgm:pt>
    <dgm:pt modelId="{5AE55C30-442C-4D72-A6D0-3F32A7D16DDD}">
      <dgm:prSet/>
      <dgm:spPr/>
      <dgm:t>
        <a:bodyPr/>
        <a:lstStyle/>
        <a:p>
          <a:r>
            <a:rPr lang="en-US"/>
            <a:t>• Data Modeling and Relationships</a:t>
          </a:r>
        </a:p>
      </dgm:t>
    </dgm:pt>
    <dgm:pt modelId="{E0731DA3-8C70-48F7-926A-9A5E3834E7AC}" type="parTrans" cxnId="{AC9271A2-9E7F-49EF-B5EA-9EE5C4E94125}">
      <dgm:prSet/>
      <dgm:spPr/>
      <dgm:t>
        <a:bodyPr/>
        <a:lstStyle/>
        <a:p>
          <a:endParaRPr lang="en-US"/>
        </a:p>
      </dgm:t>
    </dgm:pt>
    <dgm:pt modelId="{C72D9671-8D92-4072-B4EF-42C499B728F9}" type="sibTrans" cxnId="{AC9271A2-9E7F-49EF-B5EA-9EE5C4E94125}">
      <dgm:prSet/>
      <dgm:spPr/>
      <dgm:t>
        <a:bodyPr/>
        <a:lstStyle/>
        <a:p>
          <a:endParaRPr lang="en-US"/>
        </a:p>
      </dgm:t>
    </dgm:pt>
    <dgm:pt modelId="{157AFAF6-DBB7-4239-9CAE-8DB2F7646A7B}">
      <dgm:prSet/>
      <dgm:spPr/>
      <dgm:t>
        <a:bodyPr/>
        <a:lstStyle/>
        <a:p>
          <a:r>
            <a:rPr lang="en-US"/>
            <a:t>• Power Query transformations</a:t>
          </a:r>
        </a:p>
      </dgm:t>
    </dgm:pt>
    <dgm:pt modelId="{49CF8D57-076B-46DF-AAB1-BA6D6EADD4C3}" type="parTrans" cxnId="{F56220F4-7A03-453C-B593-83FAFC88DEC6}">
      <dgm:prSet/>
      <dgm:spPr/>
      <dgm:t>
        <a:bodyPr/>
        <a:lstStyle/>
        <a:p>
          <a:endParaRPr lang="en-US"/>
        </a:p>
      </dgm:t>
    </dgm:pt>
    <dgm:pt modelId="{CC0BCE04-D66C-49CF-9972-9BA1DBFA810F}" type="sibTrans" cxnId="{F56220F4-7A03-453C-B593-83FAFC88DEC6}">
      <dgm:prSet/>
      <dgm:spPr/>
      <dgm:t>
        <a:bodyPr/>
        <a:lstStyle/>
        <a:p>
          <a:endParaRPr lang="en-US"/>
        </a:p>
      </dgm:t>
    </dgm:pt>
    <dgm:pt modelId="{EB77A423-32FB-4CEC-B733-8ED9C08467E1}">
      <dgm:prSet/>
      <dgm:spPr/>
      <dgm:t>
        <a:bodyPr/>
        <a:lstStyle/>
        <a:p>
          <a:r>
            <a:rPr lang="en-US"/>
            <a:t>• Created DAX measures and KPIs</a:t>
          </a:r>
        </a:p>
      </dgm:t>
    </dgm:pt>
    <dgm:pt modelId="{266E149E-F4A2-43FF-8BD0-2D111455FDD1}" type="parTrans" cxnId="{AAD02C96-B7F6-45A5-ABF1-0F47EC35DD42}">
      <dgm:prSet/>
      <dgm:spPr/>
      <dgm:t>
        <a:bodyPr/>
        <a:lstStyle/>
        <a:p>
          <a:endParaRPr lang="en-US"/>
        </a:p>
      </dgm:t>
    </dgm:pt>
    <dgm:pt modelId="{7979C4AF-F1CF-4444-9C95-DA928E7123F9}" type="sibTrans" cxnId="{AAD02C96-B7F6-45A5-ABF1-0F47EC35DD42}">
      <dgm:prSet/>
      <dgm:spPr/>
      <dgm:t>
        <a:bodyPr/>
        <a:lstStyle/>
        <a:p>
          <a:endParaRPr lang="en-US"/>
        </a:p>
      </dgm:t>
    </dgm:pt>
    <dgm:pt modelId="{31972D12-75CB-456C-A27F-862755B7FC22}" type="pres">
      <dgm:prSet presAssocID="{9C309BEA-786E-49DB-B406-5DECB020536F}" presName="matrix" presStyleCnt="0">
        <dgm:presLayoutVars>
          <dgm:chMax val="1"/>
          <dgm:dir/>
          <dgm:resizeHandles val="exact"/>
        </dgm:presLayoutVars>
      </dgm:prSet>
      <dgm:spPr/>
    </dgm:pt>
    <dgm:pt modelId="{6FA2C22E-8B87-4003-8203-1DA14E0306B6}" type="pres">
      <dgm:prSet presAssocID="{9C309BEA-786E-49DB-B406-5DECB020536F}" presName="diamond" presStyleLbl="bgShp" presStyleIdx="0" presStyleCnt="1"/>
      <dgm:spPr/>
    </dgm:pt>
    <dgm:pt modelId="{B7CC8742-4563-4C9C-8CDD-E6CC3D8D11E9}" type="pres">
      <dgm:prSet presAssocID="{9C309BEA-786E-49DB-B406-5DECB020536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58E0582-88B3-47EE-B1FD-8C56A191E81E}" type="pres">
      <dgm:prSet presAssocID="{9C309BEA-786E-49DB-B406-5DECB020536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6E8E1B6-E5AE-4940-B7C4-0E91FDB3C653}" type="pres">
      <dgm:prSet presAssocID="{9C309BEA-786E-49DB-B406-5DECB020536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FEC15A2-068D-4150-9F44-C01F6C0EFD9A}" type="pres">
      <dgm:prSet presAssocID="{9C309BEA-786E-49DB-B406-5DECB020536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A23B533-EDAF-4956-9022-DAA189E9F0ED}" type="presOf" srcId="{9C309BEA-786E-49DB-B406-5DECB020536F}" destId="{31972D12-75CB-456C-A27F-862755B7FC22}" srcOrd="0" destOrd="0" presId="urn:microsoft.com/office/officeart/2005/8/layout/matrix3"/>
    <dgm:cxn modelId="{6A82893A-2590-429D-A959-D5165588FCE1}" srcId="{9C309BEA-786E-49DB-B406-5DECB020536F}" destId="{73D539A7-531D-4F67-9841-48D04E0FC546}" srcOrd="0" destOrd="0" parTransId="{00301D0A-AF07-48A3-96F7-9D65AB8DEB0C}" sibTransId="{9D8190FC-0EEA-4474-978A-39E45352015C}"/>
    <dgm:cxn modelId="{E755BE69-EA58-4DBD-896C-1AEFD1D499BF}" type="presOf" srcId="{EB77A423-32FB-4CEC-B733-8ED9C08467E1}" destId="{EFEC15A2-068D-4150-9F44-C01F6C0EFD9A}" srcOrd="0" destOrd="0" presId="urn:microsoft.com/office/officeart/2005/8/layout/matrix3"/>
    <dgm:cxn modelId="{BD7C5394-B6BC-4593-9F13-D66DC03360B6}" type="presOf" srcId="{157AFAF6-DBB7-4239-9CAE-8DB2F7646A7B}" destId="{D6E8E1B6-E5AE-4940-B7C4-0E91FDB3C653}" srcOrd="0" destOrd="0" presId="urn:microsoft.com/office/officeart/2005/8/layout/matrix3"/>
    <dgm:cxn modelId="{AAD02C96-B7F6-45A5-ABF1-0F47EC35DD42}" srcId="{9C309BEA-786E-49DB-B406-5DECB020536F}" destId="{EB77A423-32FB-4CEC-B733-8ED9C08467E1}" srcOrd="3" destOrd="0" parTransId="{266E149E-F4A2-43FF-8BD0-2D111455FDD1}" sibTransId="{7979C4AF-F1CF-4444-9C95-DA928E7123F9}"/>
    <dgm:cxn modelId="{AC9271A2-9E7F-49EF-B5EA-9EE5C4E94125}" srcId="{9C309BEA-786E-49DB-B406-5DECB020536F}" destId="{5AE55C30-442C-4D72-A6D0-3F32A7D16DDD}" srcOrd="1" destOrd="0" parTransId="{E0731DA3-8C70-48F7-926A-9A5E3834E7AC}" sibTransId="{C72D9671-8D92-4072-B4EF-42C499B728F9}"/>
    <dgm:cxn modelId="{D5AC00C3-F11C-44C2-BC1D-412D664C2E71}" type="presOf" srcId="{5AE55C30-442C-4D72-A6D0-3F32A7D16DDD}" destId="{358E0582-88B3-47EE-B1FD-8C56A191E81E}" srcOrd="0" destOrd="0" presId="urn:microsoft.com/office/officeart/2005/8/layout/matrix3"/>
    <dgm:cxn modelId="{21E2F2E9-EBCC-48DD-9957-025B0E50F1B6}" type="presOf" srcId="{73D539A7-531D-4F67-9841-48D04E0FC546}" destId="{B7CC8742-4563-4C9C-8CDD-E6CC3D8D11E9}" srcOrd="0" destOrd="0" presId="urn:microsoft.com/office/officeart/2005/8/layout/matrix3"/>
    <dgm:cxn modelId="{F56220F4-7A03-453C-B593-83FAFC88DEC6}" srcId="{9C309BEA-786E-49DB-B406-5DECB020536F}" destId="{157AFAF6-DBB7-4239-9CAE-8DB2F7646A7B}" srcOrd="2" destOrd="0" parTransId="{49CF8D57-076B-46DF-AAB1-BA6D6EADD4C3}" sibTransId="{CC0BCE04-D66C-49CF-9972-9BA1DBFA810F}"/>
    <dgm:cxn modelId="{ADACC047-FADA-4B38-BF09-28DAFCBF110F}" type="presParOf" srcId="{31972D12-75CB-456C-A27F-862755B7FC22}" destId="{6FA2C22E-8B87-4003-8203-1DA14E0306B6}" srcOrd="0" destOrd="0" presId="urn:microsoft.com/office/officeart/2005/8/layout/matrix3"/>
    <dgm:cxn modelId="{100E55CD-2558-42B0-8332-19970EC0D7F0}" type="presParOf" srcId="{31972D12-75CB-456C-A27F-862755B7FC22}" destId="{B7CC8742-4563-4C9C-8CDD-E6CC3D8D11E9}" srcOrd="1" destOrd="0" presId="urn:microsoft.com/office/officeart/2005/8/layout/matrix3"/>
    <dgm:cxn modelId="{01AA9232-55A8-4D6A-86C1-A721A586B031}" type="presParOf" srcId="{31972D12-75CB-456C-A27F-862755B7FC22}" destId="{358E0582-88B3-47EE-B1FD-8C56A191E81E}" srcOrd="2" destOrd="0" presId="urn:microsoft.com/office/officeart/2005/8/layout/matrix3"/>
    <dgm:cxn modelId="{858FD4B2-5964-42FF-A4DB-9608A938CC5F}" type="presParOf" srcId="{31972D12-75CB-456C-A27F-862755B7FC22}" destId="{D6E8E1B6-E5AE-4940-B7C4-0E91FDB3C653}" srcOrd="3" destOrd="0" presId="urn:microsoft.com/office/officeart/2005/8/layout/matrix3"/>
    <dgm:cxn modelId="{0A143689-EE8D-436C-BA15-C21A6CA9A025}" type="presParOf" srcId="{31972D12-75CB-456C-A27F-862755B7FC22}" destId="{EFEC15A2-068D-4150-9F44-C01F6C0EFD9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1634F6-C8B5-4876-A3E6-83F8C4262373}">
      <dsp:nvSpPr>
        <dsp:cNvPr id="0" name=""/>
        <dsp:cNvSpPr/>
      </dsp:nvSpPr>
      <dsp:spPr>
        <a:xfrm>
          <a:off x="1051855" y="2172"/>
          <a:ext cx="4207422" cy="112554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1636" tIns="285889" rIns="81636" bIns="285889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Track overall loan performance using key KPIs</a:t>
          </a:r>
          <a:br>
            <a:rPr lang="en-US" sz="1200" kern="1200"/>
          </a:br>
          <a:r>
            <a:rPr lang="en-US" sz="1200" kern="1200"/>
            <a:t>(Applications, Funded Amount, Received Amount, Interest Rate, DTI)</a:t>
          </a:r>
        </a:p>
      </dsp:txBody>
      <dsp:txXfrm>
        <a:off x="1051855" y="2172"/>
        <a:ext cx="4207422" cy="1125546"/>
      </dsp:txXfrm>
    </dsp:sp>
    <dsp:sp modelId="{F711CBFC-6BF5-4DEA-B96D-8D226C6992A2}">
      <dsp:nvSpPr>
        <dsp:cNvPr id="0" name=""/>
        <dsp:cNvSpPr/>
      </dsp:nvSpPr>
      <dsp:spPr>
        <a:xfrm>
          <a:off x="0" y="2172"/>
          <a:ext cx="1051855" cy="112554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661" tIns="111179" rIns="55661" bIns="111179" numCol="1" spcCol="1270" anchor="ctr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Track</a:t>
          </a:r>
        </a:p>
      </dsp:txBody>
      <dsp:txXfrm>
        <a:off x="0" y="2172"/>
        <a:ext cx="1051855" cy="1125546"/>
      </dsp:txXfrm>
    </dsp:sp>
    <dsp:sp modelId="{57D44080-93F4-4C2B-AB40-4E2A544DAACD}">
      <dsp:nvSpPr>
        <dsp:cNvPr id="0" name=""/>
        <dsp:cNvSpPr/>
      </dsp:nvSpPr>
      <dsp:spPr>
        <a:xfrm>
          <a:off x="1051855" y="1195252"/>
          <a:ext cx="4207422" cy="1125546"/>
        </a:xfrm>
        <a:prstGeom prst="rect">
          <a:avLst/>
        </a:prstGeom>
        <a:gradFill rotWithShape="0">
          <a:gsLst>
            <a:gs pos="0">
              <a:schemeClr val="accent2">
                <a:hueOff val="397245"/>
                <a:satOff val="2304"/>
                <a:lumOff val="2288"/>
                <a:alphaOff val="0"/>
                <a:tint val="98000"/>
                <a:lumMod val="110000"/>
              </a:schemeClr>
            </a:gs>
            <a:gs pos="84000">
              <a:schemeClr val="accent2">
                <a:hueOff val="397245"/>
                <a:satOff val="2304"/>
                <a:lumOff val="2288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397245"/>
              <a:satOff val="2304"/>
              <a:lumOff val="2288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1636" tIns="285889" rIns="81636" bIns="285889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Identify trends and risk patterns across</a:t>
          </a:r>
          <a:br>
            <a:rPr lang="en-US" sz="1200" kern="1200"/>
          </a:br>
          <a:r>
            <a:rPr lang="en-US" sz="1200" kern="1200"/>
            <a:t>Time, Geography, Loan Purpose, Employment Length, Home Ownership</a:t>
          </a:r>
        </a:p>
      </dsp:txBody>
      <dsp:txXfrm>
        <a:off x="1051855" y="1195252"/>
        <a:ext cx="4207422" cy="1125546"/>
      </dsp:txXfrm>
    </dsp:sp>
    <dsp:sp modelId="{833328F9-C80D-4834-A1ED-4469946020F4}">
      <dsp:nvSpPr>
        <dsp:cNvPr id="0" name=""/>
        <dsp:cNvSpPr/>
      </dsp:nvSpPr>
      <dsp:spPr>
        <a:xfrm>
          <a:off x="0" y="1195252"/>
          <a:ext cx="1051855" cy="112554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397245"/>
              <a:satOff val="2304"/>
              <a:lumOff val="228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661" tIns="111179" rIns="55661" bIns="111179" numCol="1" spcCol="1270" anchor="ctr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Identify</a:t>
          </a:r>
        </a:p>
      </dsp:txBody>
      <dsp:txXfrm>
        <a:off x="0" y="1195252"/>
        <a:ext cx="1051855" cy="1125546"/>
      </dsp:txXfrm>
    </dsp:sp>
    <dsp:sp modelId="{C79DD3D0-A662-42AF-A26B-4600C53DB70E}">
      <dsp:nvSpPr>
        <dsp:cNvPr id="0" name=""/>
        <dsp:cNvSpPr/>
      </dsp:nvSpPr>
      <dsp:spPr>
        <a:xfrm>
          <a:off x="1051855" y="2388331"/>
          <a:ext cx="4207422" cy="1125546"/>
        </a:xfrm>
        <a:prstGeom prst="rect">
          <a:avLst/>
        </a:prstGeom>
        <a:gradFill rotWithShape="0">
          <a:gsLst>
            <a:gs pos="0">
              <a:schemeClr val="accent2">
                <a:hueOff val="794490"/>
                <a:satOff val="4609"/>
                <a:lumOff val="4576"/>
                <a:alphaOff val="0"/>
                <a:tint val="98000"/>
                <a:lumMod val="110000"/>
              </a:schemeClr>
            </a:gs>
            <a:gs pos="84000">
              <a:schemeClr val="accent2">
                <a:hueOff val="794490"/>
                <a:satOff val="4609"/>
                <a:lumOff val="4576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794490"/>
              <a:satOff val="4609"/>
              <a:lumOff val="4576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1636" tIns="285889" rIns="81636" bIns="285889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Provide a loan-level details view as a single source of truth</a:t>
          </a:r>
          <a:br>
            <a:rPr lang="en-US" sz="1200" kern="1200"/>
          </a:br>
          <a:r>
            <a:rPr lang="en-US" sz="1200" kern="1200"/>
            <a:t>for operational monitoring and deep-dive analysis</a:t>
          </a:r>
        </a:p>
      </dsp:txBody>
      <dsp:txXfrm>
        <a:off x="1051855" y="2388331"/>
        <a:ext cx="4207422" cy="1125546"/>
      </dsp:txXfrm>
    </dsp:sp>
    <dsp:sp modelId="{F36830F6-A8F9-4622-B175-8E8FE69957F0}">
      <dsp:nvSpPr>
        <dsp:cNvPr id="0" name=""/>
        <dsp:cNvSpPr/>
      </dsp:nvSpPr>
      <dsp:spPr>
        <a:xfrm>
          <a:off x="0" y="2388331"/>
          <a:ext cx="1051855" cy="112554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794490"/>
              <a:satOff val="4609"/>
              <a:lumOff val="457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661" tIns="111179" rIns="55661" bIns="111179" numCol="1" spcCol="1270" anchor="ctr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Provide</a:t>
          </a:r>
        </a:p>
      </dsp:txBody>
      <dsp:txXfrm>
        <a:off x="0" y="2388331"/>
        <a:ext cx="1051855" cy="1125546"/>
      </dsp:txXfrm>
    </dsp:sp>
    <dsp:sp modelId="{3F1E599D-15D8-425A-8828-CC4C9B8B3AC0}">
      <dsp:nvSpPr>
        <dsp:cNvPr id="0" name=""/>
        <dsp:cNvSpPr/>
      </dsp:nvSpPr>
      <dsp:spPr>
        <a:xfrm>
          <a:off x="1051855" y="3581411"/>
          <a:ext cx="4207422" cy="1125546"/>
        </a:xfrm>
        <a:prstGeom prst="rect">
          <a:avLst/>
        </a:prstGeom>
        <a:gradFill rotWithShape="0">
          <a:gsLst>
            <a:gs pos="0">
              <a:schemeClr val="accent2">
                <a:hueOff val="1191735"/>
                <a:satOff val="6913"/>
                <a:lumOff val="6864"/>
                <a:alphaOff val="0"/>
                <a:tint val="98000"/>
                <a:lumMod val="110000"/>
              </a:schemeClr>
            </a:gs>
            <a:gs pos="84000">
              <a:schemeClr val="accent2">
                <a:hueOff val="1191735"/>
                <a:satOff val="6913"/>
                <a:lumOff val="6864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1191735"/>
              <a:satOff val="6913"/>
              <a:lumOff val="6864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1636" tIns="285889" rIns="81636" bIns="285889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Goal: Enable faster insights, stronger risk control, and data-driven lending decisions.</a:t>
          </a:r>
        </a:p>
      </dsp:txBody>
      <dsp:txXfrm>
        <a:off x="1051855" y="3581411"/>
        <a:ext cx="4207422" cy="1125546"/>
      </dsp:txXfrm>
    </dsp:sp>
    <dsp:sp modelId="{90593321-90D2-4C70-89F4-79715E9CAF09}">
      <dsp:nvSpPr>
        <dsp:cNvPr id="0" name=""/>
        <dsp:cNvSpPr/>
      </dsp:nvSpPr>
      <dsp:spPr>
        <a:xfrm>
          <a:off x="0" y="3581411"/>
          <a:ext cx="1051855" cy="112554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1191735"/>
              <a:satOff val="6913"/>
              <a:lumOff val="686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661" tIns="111179" rIns="55661" bIns="111179" numCol="1" spcCol="1270" anchor="ctr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Goal</a:t>
          </a:r>
        </a:p>
      </dsp:txBody>
      <dsp:txXfrm>
        <a:off x="0" y="3581411"/>
        <a:ext cx="1051855" cy="11255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6CC46A-26C4-4BFB-928D-C38FD21E13CD}">
      <dsp:nvSpPr>
        <dsp:cNvPr id="0" name=""/>
        <dsp:cNvSpPr/>
      </dsp:nvSpPr>
      <dsp:spPr>
        <a:xfrm>
          <a:off x="662471" y="761765"/>
          <a:ext cx="1071130" cy="10711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C2FD5D-049E-4E0E-BDF9-DE803BF23F50}">
      <dsp:nvSpPr>
        <dsp:cNvPr id="0" name=""/>
        <dsp:cNvSpPr/>
      </dsp:nvSpPr>
      <dsp:spPr>
        <a:xfrm>
          <a:off x="7891" y="2149029"/>
          <a:ext cx="23802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This project analyzes bank loan data to derive business insights.</a:t>
          </a:r>
        </a:p>
      </dsp:txBody>
      <dsp:txXfrm>
        <a:off x="7891" y="2149029"/>
        <a:ext cx="2380289" cy="720000"/>
      </dsp:txXfrm>
    </dsp:sp>
    <dsp:sp modelId="{13917026-9D90-4F9A-A755-D05F0F27E371}">
      <dsp:nvSpPr>
        <dsp:cNvPr id="0" name=""/>
        <dsp:cNvSpPr/>
      </dsp:nvSpPr>
      <dsp:spPr>
        <a:xfrm>
          <a:off x="3459310" y="761765"/>
          <a:ext cx="1071130" cy="10711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A765CA-ED09-4645-9552-CD1C20ACBED1}">
      <dsp:nvSpPr>
        <dsp:cNvPr id="0" name=""/>
        <dsp:cNvSpPr/>
      </dsp:nvSpPr>
      <dsp:spPr>
        <a:xfrm>
          <a:off x="2804731" y="2149029"/>
          <a:ext cx="23802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 is stored in MS SQL Server and visualized using Power BI.</a:t>
          </a:r>
        </a:p>
      </dsp:txBody>
      <dsp:txXfrm>
        <a:off x="2804731" y="2149029"/>
        <a:ext cx="2380289" cy="720000"/>
      </dsp:txXfrm>
    </dsp:sp>
    <dsp:sp modelId="{115FAFDA-FFAC-400D-A91A-FEAD3D38B404}">
      <dsp:nvSpPr>
        <dsp:cNvPr id="0" name=""/>
        <dsp:cNvSpPr/>
      </dsp:nvSpPr>
      <dsp:spPr>
        <a:xfrm>
          <a:off x="6256150" y="761765"/>
          <a:ext cx="1071130" cy="10711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875020-0B30-4951-BD8B-1919F6A9C7BA}">
      <dsp:nvSpPr>
        <dsp:cNvPr id="0" name=""/>
        <dsp:cNvSpPr/>
      </dsp:nvSpPr>
      <dsp:spPr>
        <a:xfrm>
          <a:off x="5601571" y="2149029"/>
          <a:ext cx="23802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solution supports decision-making using KPIs and dashboards.</a:t>
          </a:r>
        </a:p>
      </dsp:txBody>
      <dsp:txXfrm>
        <a:off x="5601571" y="2149029"/>
        <a:ext cx="238028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E609BC-4BF9-4B2C-AC7F-97CA13609AAE}">
      <dsp:nvSpPr>
        <dsp:cNvPr id="0" name=""/>
        <dsp:cNvSpPr/>
      </dsp:nvSpPr>
      <dsp:spPr>
        <a:xfrm>
          <a:off x="275073" y="0"/>
          <a:ext cx="4709131" cy="4709131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CA7DE6-311D-4CF4-BDF2-51F1C57B871B}">
      <dsp:nvSpPr>
        <dsp:cNvPr id="0" name=""/>
        <dsp:cNvSpPr/>
      </dsp:nvSpPr>
      <dsp:spPr>
        <a:xfrm>
          <a:off x="722440" y="447367"/>
          <a:ext cx="1836561" cy="18365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Created Database and Tables</a:t>
          </a:r>
        </a:p>
      </dsp:txBody>
      <dsp:txXfrm>
        <a:off x="812094" y="537021"/>
        <a:ext cx="1657253" cy="1657253"/>
      </dsp:txXfrm>
    </dsp:sp>
    <dsp:sp modelId="{9A92F1CE-4D08-4C13-8540-EA9E23843B05}">
      <dsp:nvSpPr>
        <dsp:cNvPr id="0" name=""/>
        <dsp:cNvSpPr/>
      </dsp:nvSpPr>
      <dsp:spPr>
        <a:xfrm>
          <a:off x="2700275" y="447367"/>
          <a:ext cx="1836561" cy="18365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Imported loan data into SQL Server</a:t>
          </a:r>
        </a:p>
      </dsp:txBody>
      <dsp:txXfrm>
        <a:off x="2789929" y="537021"/>
        <a:ext cx="1657253" cy="1657253"/>
      </dsp:txXfrm>
    </dsp:sp>
    <dsp:sp modelId="{014449E0-4BDD-48E0-9658-4A6A9A72164D}">
      <dsp:nvSpPr>
        <dsp:cNvPr id="0" name=""/>
        <dsp:cNvSpPr/>
      </dsp:nvSpPr>
      <dsp:spPr>
        <a:xfrm>
          <a:off x="722440" y="2425202"/>
          <a:ext cx="1836561" cy="18365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Cleaned and transformed data</a:t>
          </a:r>
        </a:p>
      </dsp:txBody>
      <dsp:txXfrm>
        <a:off x="812094" y="2514856"/>
        <a:ext cx="1657253" cy="1657253"/>
      </dsp:txXfrm>
    </dsp:sp>
    <dsp:sp modelId="{0F4B8774-E126-4343-A11E-FCB28F8F2159}">
      <dsp:nvSpPr>
        <dsp:cNvPr id="0" name=""/>
        <dsp:cNvSpPr/>
      </dsp:nvSpPr>
      <dsp:spPr>
        <a:xfrm>
          <a:off x="2700275" y="2425202"/>
          <a:ext cx="1836561" cy="18365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Fired SQL queries to solve business problems</a:t>
          </a:r>
        </a:p>
      </dsp:txBody>
      <dsp:txXfrm>
        <a:off x="2789929" y="2514856"/>
        <a:ext cx="1657253" cy="16572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3BFA1C-56E0-49B5-B3DB-17B7D8D2D140}">
      <dsp:nvSpPr>
        <dsp:cNvPr id="0" name=""/>
        <dsp:cNvSpPr/>
      </dsp:nvSpPr>
      <dsp:spPr>
        <a:xfrm>
          <a:off x="0" y="1954"/>
          <a:ext cx="5259278" cy="9905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F4A2DE-5313-43DE-AD8B-0557B9E26F6F}">
      <dsp:nvSpPr>
        <dsp:cNvPr id="0" name=""/>
        <dsp:cNvSpPr/>
      </dsp:nvSpPr>
      <dsp:spPr>
        <a:xfrm>
          <a:off x="299648" y="224833"/>
          <a:ext cx="544815" cy="5448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AC0206-E30D-44B5-8D38-1F1C1C2F2EE2}">
      <dsp:nvSpPr>
        <dsp:cNvPr id="0" name=""/>
        <dsp:cNvSpPr/>
      </dsp:nvSpPr>
      <dsp:spPr>
        <a:xfrm>
          <a:off x="1144111" y="1954"/>
          <a:ext cx="4115166" cy="99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836" tIns="104836" rIns="104836" bIns="10483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SELECT, WHERE, GROUP BY, ORDER BY</a:t>
          </a:r>
        </a:p>
      </dsp:txBody>
      <dsp:txXfrm>
        <a:off x="1144111" y="1954"/>
        <a:ext cx="4115166" cy="990573"/>
      </dsp:txXfrm>
    </dsp:sp>
    <dsp:sp modelId="{92DC0DD6-33FF-44FC-9598-F59086E64829}">
      <dsp:nvSpPr>
        <dsp:cNvPr id="0" name=""/>
        <dsp:cNvSpPr/>
      </dsp:nvSpPr>
      <dsp:spPr>
        <a:xfrm>
          <a:off x="0" y="1240170"/>
          <a:ext cx="5259278" cy="9905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BFE785-2DFD-4951-9094-0913F20F2A5E}">
      <dsp:nvSpPr>
        <dsp:cNvPr id="0" name=""/>
        <dsp:cNvSpPr/>
      </dsp:nvSpPr>
      <dsp:spPr>
        <a:xfrm>
          <a:off x="299648" y="1463049"/>
          <a:ext cx="544815" cy="5448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FDF923-960A-4D26-B4BA-B169977416C8}">
      <dsp:nvSpPr>
        <dsp:cNvPr id="0" name=""/>
        <dsp:cNvSpPr/>
      </dsp:nvSpPr>
      <dsp:spPr>
        <a:xfrm>
          <a:off x="1144111" y="1240170"/>
          <a:ext cx="4115166" cy="99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836" tIns="104836" rIns="104836" bIns="10483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COUNT, SUM, AVG, DISTINCT</a:t>
          </a:r>
        </a:p>
      </dsp:txBody>
      <dsp:txXfrm>
        <a:off x="1144111" y="1240170"/>
        <a:ext cx="4115166" cy="990573"/>
      </dsp:txXfrm>
    </dsp:sp>
    <dsp:sp modelId="{B45148C1-6C00-48D4-A5BC-B4C0BAE823A7}">
      <dsp:nvSpPr>
        <dsp:cNvPr id="0" name=""/>
        <dsp:cNvSpPr/>
      </dsp:nvSpPr>
      <dsp:spPr>
        <a:xfrm>
          <a:off x="0" y="2478387"/>
          <a:ext cx="5259278" cy="9905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244989-41FA-48C3-9805-DE3D210092D8}">
      <dsp:nvSpPr>
        <dsp:cNvPr id="0" name=""/>
        <dsp:cNvSpPr/>
      </dsp:nvSpPr>
      <dsp:spPr>
        <a:xfrm>
          <a:off x="299648" y="2701266"/>
          <a:ext cx="544815" cy="5448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B1798D-CC18-4871-BAE1-95C3E61332F7}">
      <dsp:nvSpPr>
        <dsp:cNvPr id="0" name=""/>
        <dsp:cNvSpPr/>
      </dsp:nvSpPr>
      <dsp:spPr>
        <a:xfrm>
          <a:off x="1144111" y="2478387"/>
          <a:ext cx="4115166" cy="99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836" tIns="104836" rIns="104836" bIns="10483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CAST, DATEPART, MONTH, YEAR</a:t>
          </a:r>
        </a:p>
      </dsp:txBody>
      <dsp:txXfrm>
        <a:off x="1144111" y="2478387"/>
        <a:ext cx="4115166" cy="990573"/>
      </dsp:txXfrm>
    </dsp:sp>
    <dsp:sp modelId="{42A0173E-CC11-45A6-BD13-833FEC554FA2}">
      <dsp:nvSpPr>
        <dsp:cNvPr id="0" name=""/>
        <dsp:cNvSpPr/>
      </dsp:nvSpPr>
      <dsp:spPr>
        <a:xfrm>
          <a:off x="0" y="3716603"/>
          <a:ext cx="5259278" cy="9905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4ED4E5-4AE5-4127-8CDB-106C9BAC47A5}">
      <dsp:nvSpPr>
        <dsp:cNvPr id="0" name=""/>
        <dsp:cNvSpPr/>
      </dsp:nvSpPr>
      <dsp:spPr>
        <a:xfrm>
          <a:off x="299648" y="3939482"/>
          <a:ext cx="544815" cy="5448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402F13-3FD1-440B-898A-102C6320CEF7}">
      <dsp:nvSpPr>
        <dsp:cNvPr id="0" name=""/>
        <dsp:cNvSpPr/>
      </dsp:nvSpPr>
      <dsp:spPr>
        <a:xfrm>
          <a:off x="1144111" y="3716603"/>
          <a:ext cx="4115166" cy="99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836" tIns="104836" rIns="104836" bIns="10483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CTE, PARTITION BY</a:t>
          </a:r>
        </a:p>
      </dsp:txBody>
      <dsp:txXfrm>
        <a:off x="1144111" y="3716603"/>
        <a:ext cx="4115166" cy="9905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A2C22E-8B87-4003-8203-1DA14E0306B6}">
      <dsp:nvSpPr>
        <dsp:cNvPr id="0" name=""/>
        <dsp:cNvSpPr/>
      </dsp:nvSpPr>
      <dsp:spPr>
        <a:xfrm>
          <a:off x="2109194" y="0"/>
          <a:ext cx="3961205" cy="396120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CC8742-4563-4C9C-8CDD-E6CC3D8D11E9}">
      <dsp:nvSpPr>
        <dsp:cNvPr id="0" name=""/>
        <dsp:cNvSpPr/>
      </dsp:nvSpPr>
      <dsp:spPr>
        <a:xfrm>
          <a:off x="2485508" y="376314"/>
          <a:ext cx="1544869" cy="15448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Connected Power BI to SQL Server</a:t>
          </a:r>
        </a:p>
      </dsp:txBody>
      <dsp:txXfrm>
        <a:off x="2560922" y="451728"/>
        <a:ext cx="1394041" cy="1394041"/>
      </dsp:txXfrm>
    </dsp:sp>
    <dsp:sp modelId="{358E0582-88B3-47EE-B1FD-8C56A191E81E}">
      <dsp:nvSpPr>
        <dsp:cNvPr id="0" name=""/>
        <dsp:cNvSpPr/>
      </dsp:nvSpPr>
      <dsp:spPr>
        <a:xfrm>
          <a:off x="4149215" y="376314"/>
          <a:ext cx="1544869" cy="15448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Data Modeling and Relationships</a:t>
          </a:r>
        </a:p>
      </dsp:txBody>
      <dsp:txXfrm>
        <a:off x="4224629" y="451728"/>
        <a:ext cx="1394041" cy="1394041"/>
      </dsp:txXfrm>
    </dsp:sp>
    <dsp:sp modelId="{D6E8E1B6-E5AE-4940-B7C4-0E91FDB3C653}">
      <dsp:nvSpPr>
        <dsp:cNvPr id="0" name=""/>
        <dsp:cNvSpPr/>
      </dsp:nvSpPr>
      <dsp:spPr>
        <a:xfrm>
          <a:off x="2485508" y="2040020"/>
          <a:ext cx="1544869" cy="15448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Power Query transformations</a:t>
          </a:r>
        </a:p>
      </dsp:txBody>
      <dsp:txXfrm>
        <a:off x="2560922" y="2115434"/>
        <a:ext cx="1394041" cy="1394041"/>
      </dsp:txXfrm>
    </dsp:sp>
    <dsp:sp modelId="{EFEC15A2-068D-4150-9F44-C01F6C0EFD9A}">
      <dsp:nvSpPr>
        <dsp:cNvPr id="0" name=""/>
        <dsp:cNvSpPr/>
      </dsp:nvSpPr>
      <dsp:spPr>
        <a:xfrm>
          <a:off x="4149215" y="2040020"/>
          <a:ext cx="1544869" cy="15448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Created DAX measures and KPIs</a:t>
          </a:r>
        </a:p>
      </dsp:txBody>
      <dsp:txXfrm>
        <a:off x="4224629" y="2115434"/>
        <a:ext cx="1394041" cy="13940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50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58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114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3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49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248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509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851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90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868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01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47985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F3D65BA-1C65-40FB-92EF-83951BDC1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9143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Graphic 21" descr="Bar chart">
            <a:extLst>
              <a:ext uri="{FF2B5EF4-FFF2-40B4-BE49-F238E27FC236}">
                <a16:creationId xmlns:a16="http://schemas.microsoft.com/office/drawing/2014/main" id="{53E593FE-826A-E2BB-B838-7DADB3778F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328" y="1047665"/>
            <a:ext cx="5030386" cy="503038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ADF52CCA-FCDD-49A0-BFFC-3BD41F1B8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723899"/>
            <a:ext cx="277749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22206" y="1419225"/>
            <a:ext cx="2311182" cy="20858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100">
                <a:solidFill>
                  <a:srgbClr val="FFFFFF"/>
                </a:solidFill>
              </a:rPr>
              <a:t>DATA ANALYST PORTFOLIO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22206" y="3505095"/>
            <a:ext cx="2311182" cy="875519"/>
          </a:xfrm>
        </p:spPr>
        <p:txBody>
          <a:bodyPr>
            <a:normAutofit/>
          </a:bodyPr>
          <a:lstStyle/>
          <a:p>
            <a:r>
              <a:rPr lang="en-GB" sz="1500" dirty="0">
                <a:solidFill>
                  <a:srgbClr val="EBEBEB"/>
                </a:solidFill>
              </a:rPr>
              <a:t>BANK LOAN ANALYSIS</a:t>
            </a:r>
          </a:p>
          <a:p>
            <a:r>
              <a:rPr lang="en-GB" sz="1500" dirty="0">
                <a:solidFill>
                  <a:srgbClr val="EBEBEB"/>
                </a:solidFill>
              </a:rPr>
              <a:t>SQL SERVER &amp; POWER BI</a:t>
            </a:r>
          </a:p>
          <a:p>
            <a:endParaRPr lang="en-GB" sz="1500" dirty="0">
              <a:solidFill>
                <a:srgbClr val="EBEBEB"/>
              </a:solidFill>
            </a:endParaRPr>
          </a:p>
          <a:p>
            <a:endParaRPr lang="en-GB" sz="1500" dirty="0">
              <a:solidFill>
                <a:srgbClr val="EBEBEB"/>
              </a:solidFill>
            </a:endParaRPr>
          </a:p>
          <a:p>
            <a:endParaRPr lang="en-GB" sz="1500" dirty="0">
              <a:solidFill>
                <a:srgbClr val="EBEBE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389AC5-DDFC-BBD7-C242-ED4ED48BC31B}"/>
              </a:ext>
            </a:extLst>
          </p:cNvPr>
          <p:cNvSpPr txBox="1"/>
          <p:nvPr/>
        </p:nvSpPr>
        <p:spPr>
          <a:xfrm>
            <a:off x="6170621" y="5143124"/>
            <a:ext cx="2137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MAKKENA ADITHYA SAI MAHESH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5F28DDD-9641-43BA-944D-79B068705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DB481C-7CBF-7075-005A-101B4EA4A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71" y="1037967"/>
            <a:ext cx="2290568" cy="4709131"/>
          </a:xfrm>
        </p:spPr>
        <p:txBody>
          <a:bodyPr anchor="ctr">
            <a:normAutofit/>
          </a:bodyPr>
          <a:lstStyle/>
          <a:p>
            <a:r>
              <a:rPr lang="en-GB" sz="2600" b="1">
                <a:solidFill>
                  <a:schemeClr val="accent1"/>
                </a:solidFill>
              </a:rPr>
              <a:t>Problem Statement</a:t>
            </a:r>
            <a:br>
              <a:rPr lang="en-GB" sz="2600" b="1">
                <a:solidFill>
                  <a:schemeClr val="accent1"/>
                </a:solidFill>
              </a:rPr>
            </a:br>
            <a:endParaRPr lang="en-GB" sz="2600">
              <a:solidFill>
                <a:schemeClr val="accent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2AA2954-062E-4B72-A97B-0B066FB15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CA29A6-E0B1-40CD-ADF7-7B8E932A3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D5F866-AD72-475A-B6C6-54E4577D4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2BAD4C-6EA9-4F10-92D4-A1C8C53DA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5138" y="723898"/>
            <a:ext cx="5623962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D31A17DE-E823-0B8E-3D34-FE46879799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6397584"/>
              </p:ext>
            </p:extLst>
          </p:nvPr>
        </p:nvGraphicFramePr>
        <p:xfrm>
          <a:off x="3448828" y="1037967"/>
          <a:ext cx="5259278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68332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CDB728-9459-4DB1-080F-E0DEF1AC618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192" y="2228003"/>
          <a:ext cx="7989752" cy="36307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798E696-4BBA-46BE-AD86-F7E300B89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1363"/>
            <a:ext cx="9143999" cy="62566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0B0CA3-C333-4560-9975-E31D1B7B9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723899"/>
            <a:ext cx="277749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7232" y="1037967"/>
            <a:ext cx="2290568" cy="4709131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rgbClr val="FFFEFF"/>
                </a:solidFill>
              </a:rPr>
              <a:t>Part 1 – MS SQL Server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84D3B0-C1E7-CD10-78D4-196DA64180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8670313"/>
              </p:ext>
            </p:extLst>
          </p:nvPr>
        </p:nvGraphicFramePr>
        <p:xfrm>
          <a:off x="364524" y="1037967"/>
          <a:ext cx="5259278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798E696-4BBA-46BE-AD86-F7E300B89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1363"/>
            <a:ext cx="9143999" cy="62566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0B0CA3-C333-4560-9975-E31D1B7B9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723899"/>
            <a:ext cx="277749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7232" y="1037967"/>
            <a:ext cx="2290568" cy="4709131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rgbClr val="FFFEFF"/>
                </a:solidFill>
              </a:rPr>
              <a:t>SQL Skills Applied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4C1A3C37-0562-7BCF-0260-561FA79EB1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0383860"/>
              </p:ext>
            </p:extLst>
          </p:nvPr>
        </p:nvGraphicFramePr>
        <p:xfrm>
          <a:off x="364524" y="1037967"/>
          <a:ext cx="5259278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8E2400-FAC4-468B-846D-75E60D0A0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9144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D2CA5C-E1A7-4B7C-8BD8-210689271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5862" y="5141974"/>
            <a:ext cx="8468145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5264487"/>
            <a:ext cx="8272212" cy="718870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EFF"/>
                </a:solidFill>
              </a:rPr>
              <a:t>Part 2 – Power BI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BA1210-DD25-D597-F003-72406DAAD3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5905034"/>
              </p:ext>
            </p:extLst>
          </p:nvPr>
        </p:nvGraphicFramePr>
        <p:xfrm>
          <a:off x="482203" y="858445"/>
          <a:ext cx="8179594" cy="396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935" y="485678"/>
            <a:ext cx="3131058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367" y="1113764"/>
            <a:ext cx="2452312" cy="4624327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Good Loan vs Bad Loan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6928" y="1113764"/>
            <a:ext cx="4581135" cy="4624327"/>
          </a:xfrm>
        </p:spPr>
        <p:txBody>
          <a:bodyPr anchor="ctr">
            <a:normAutofit/>
          </a:bodyPr>
          <a:lstStyle/>
          <a:p>
            <a:r>
              <a:t>Good Loan KPIs:</a:t>
            </a:r>
          </a:p>
          <a:p>
            <a:r>
              <a:t>• Application %</a:t>
            </a:r>
          </a:p>
          <a:p>
            <a:r>
              <a:t>• Funded Amount</a:t>
            </a:r>
          </a:p>
          <a:p>
            <a:r>
              <a:t>• Received Amount</a:t>
            </a:r>
          </a:p>
          <a:p>
            <a:endParaRPr/>
          </a:p>
          <a:p>
            <a:r>
              <a:t>Bad Loan KPIs:</a:t>
            </a:r>
          </a:p>
          <a:p>
            <a:r>
              <a:t>• Application %</a:t>
            </a:r>
          </a:p>
          <a:p>
            <a:r>
              <a:t>• Funded Amount</a:t>
            </a:r>
          </a:p>
          <a:p>
            <a:r>
              <a:t>• Received Amount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D35255-F6AD-483C-8736-3BA2E77D7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3CC4EC-DB06-46D9-AFDB-90C92162D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230115"/>
            <a:ext cx="8447150" cy="21604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200" y="4428836"/>
            <a:ext cx="7964550" cy="1449346"/>
          </a:xfrm>
        </p:spPr>
        <p:txBody>
          <a:bodyPr anchor="t"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Loan Status Grid View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1E467B-4F3D-4B02-B4F6-B1F606610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B8FFC3-0702-4F80-A25F-DCE76F0DC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0FAA44-950B-4B8B-812E-B19BA4A76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199" y="794327"/>
            <a:ext cx="7964551" cy="3173444"/>
          </a:xfrm>
        </p:spPr>
        <p:txBody>
          <a:bodyPr anchor="ctr">
            <a:normAutofit/>
          </a:bodyPr>
          <a:lstStyle/>
          <a:p>
            <a:r>
              <a:rPr lang="en-GB" sz="1700"/>
              <a:t>Metrics shown by Loan Status:</a:t>
            </a:r>
          </a:p>
          <a:p>
            <a:r>
              <a:rPr lang="en-GB" sz="1700"/>
              <a:t>• Total Loan Applications</a:t>
            </a:r>
          </a:p>
          <a:p>
            <a:r>
              <a:rPr lang="en-GB" sz="1700"/>
              <a:t>• Total Funded Amount</a:t>
            </a:r>
          </a:p>
          <a:p>
            <a:r>
              <a:rPr lang="en-GB" sz="1700"/>
              <a:t>• Total Amount Received</a:t>
            </a:r>
          </a:p>
          <a:p>
            <a:r>
              <a:rPr lang="en-GB" sz="1700"/>
              <a:t>• MTD Funded Amount</a:t>
            </a:r>
          </a:p>
          <a:p>
            <a:r>
              <a:rPr lang="en-GB" sz="1700"/>
              <a:t>• Average Interest Rate &amp; DTI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124" y="564590"/>
            <a:ext cx="7989752" cy="441250"/>
          </a:xfrm>
        </p:spPr>
        <p:txBody>
          <a:bodyPr>
            <a:normAutofit fontScale="90000"/>
          </a:bodyPr>
          <a:lstStyle/>
          <a:p>
            <a:r>
              <a:rPr lang="en-GB" dirty="0"/>
              <a:t>Dashboard | summary </a:t>
            </a:r>
            <a:endParaRPr dirty="0"/>
          </a:p>
        </p:txBody>
      </p:sp>
      <p:pic>
        <p:nvPicPr>
          <p:cNvPr id="4" name="Picture 3" descr="Screenshot 2025-12-30 1304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4516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5-12-30 1305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39702"/>
            <a:ext cx="8229600" cy="5109270"/>
          </a:xfrm>
          <a:prstGeom prst="rect">
            <a:avLst/>
          </a:prstGeom>
        </p:spPr>
      </p:pic>
      <p:sp>
        <p:nvSpPr>
          <p:cNvPr id="5" name="Title 4"/>
          <p:cNvSpPr txBox="1">
            <a:spLocks noGrp="1"/>
          </p:cNvSpPr>
          <p:nvPr>
            <p:ph type="title"/>
          </p:nvPr>
        </p:nvSpPr>
        <p:spPr>
          <a:xfrm>
            <a:off x="581025" y="687388"/>
            <a:ext cx="7989888" cy="7270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Dashboard 2 – Overview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902093"/>
          </a:xfrm>
        </p:spPr>
        <p:txBody>
          <a:bodyPr>
            <a:normAutofit fontScale="90000"/>
          </a:bodyPr>
          <a:lstStyle/>
          <a:p>
            <a:r>
              <a:rPr lang="en-GB" dirty="0"/>
              <a:t>Dashboard 3 – Loan Details</a:t>
            </a:r>
            <a:br>
              <a:rPr lang="en-GB" dirty="0"/>
            </a:br>
            <a:endParaRPr dirty="0"/>
          </a:p>
        </p:txBody>
      </p:sp>
      <p:pic>
        <p:nvPicPr>
          <p:cNvPr id="4" name="Picture 3" descr="Screenshot 2025-12-30 1306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7172"/>
            <a:ext cx="8229600" cy="50994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• 86% of loans are Good Loans, indicating a strong overall portfolio health</a:t>
            </a:r>
          </a:p>
          <a:p>
            <a:r>
              <a:rPr lang="en-GB" dirty="0"/>
              <a:t>• 14% Bad Loans pose direct revenue and risk exposure</a:t>
            </a:r>
          </a:p>
          <a:p>
            <a:r>
              <a:rPr lang="en-GB" dirty="0"/>
              <a:t>• Total Received Amount exceeds Funded Amount, reflecting healthy cash flow</a:t>
            </a:r>
          </a:p>
          <a:p>
            <a:r>
              <a:rPr lang="en-GB" dirty="0"/>
              <a:t>• Debt Consolidation loans dominate volume but contribute higher risk</a:t>
            </a:r>
          </a:p>
          <a:p>
            <a:r>
              <a:rPr lang="en-GB" dirty="0"/>
              <a:t>• Mortgage customers and long-tenured employees are the most stable segments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• Focus growth on low-risk segments (Mortgage, long employment tenure)</a:t>
            </a:r>
          </a:p>
          <a:p>
            <a:r>
              <a:rPr lang="en-GB" dirty="0"/>
              <a:t>• Tighten credit and DTI thresholds for high-risk loan purposes</a:t>
            </a:r>
          </a:p>
          <a:p>
            <a:r>
              <a:rPr lang="en-GB" dirty="0"/>
              <a:t>• Monitor regional and long-tenure loans to control default risk</a:t>
            </a:r>
          </a:p>
          <a:p>
            <a:r>
              <a:rPr lang="en-GB" dirty="0"/>
              <a:t>• Balance growth with portfolio quality to prevent future NPAs</a:t>
            </a:r>
          </a:p>
          <a:p>
            <a:r>
              <a:rPr lang="en-GB" dirty="0"/>
              <a:t>• Use insights to refine pricing, approval, and risk policies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418</Words>
  <Application>Microsoft Office PowerPoint</Application>
  <PresentationFormat>On-screen Show (4:3)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Gill Sans MT</vt:lpstr>
      <vt:lpstr>Wingdings 2</vt:lpstr>
      <vt:lpstr>Dividend</vt:lpstr>
      <vt:lpstr>DATA ANALYST PORTFOLIO PROJECT</vt:lpstr>
      <vt:lpstr>Problem Statement </vt:lpstr>
      <vt:lpstr>Project Overview</vt:lpstr>
      <vt:lpstr>Part 1 – MS SQL Server</vt:lpstr>
      <vt:lpstr>SQL Skills Applied</vt:lpstr>
      <vt:lpstr>Part 2 – Power BI</vt:lpstr>
      <vt:lpstr>Good Loan vs Bad Loan Analysis</vt:lpstr>
      <vt:lpstr>Loan Status Grid View</vt:lpstr>
      <vt:lpstr>Dashboard | summary </vt:lpstr>
      <vt:lpstr>Dashboard 2 – Overview Analysis</vt:lpstr>
      <vt:lpstr>Dashboard 3 – Loan Details </vt:lpstr>
      <vt:lpstr>Key Insights &amp; Outcomes</vt:lpstr>
      <vt:lpstr>Business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mahesh adithya</dc:creator>
  <cp:keywords/>
  <dc:description>generated using python-pptx</dc:description>
  <cp:lastModifiedBy>mahesh adithya</cp:lastModifiedBy>
  <cp:revision>4</cp:revision>
  <dcterms:created xsi:type="dcterms:W3CDTF">2013-01-27T09:14:16Z</dcterms:created>
  <dcterms:modified xsi:type="dcterms:W3CDTF">2025-12-30T08:43:31Z</dcterms:modified>
  <cp:category/>
</cp:coreProperties>
</file>